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8"/>
  </p:notesMasterIdLst>
  <p:sldIdLst>
    <p:sldId id="265" r:id="rId3"/>
    <p:sldId id="266" r:id="rId4"/>
    <p:sldId id="264" r:id="rId5"/>
    <p:sldId id="268" r:id="rId6"/>
    <p:sldId id="293" r:id="rId7"/>
    <p:sldId id="294" r:id="rId8"/>
    <p:sldId id="295" r:id="rId9"/>
    <p:sldId id="269" r:id="rId10"/>
    <p:sldId id="272" r:id="rId11"/>
    <p:sldId id="296" r:id="rId12"/>
    <p:sldId id="297" r:id="rId13"/>
    <p:sldId id="273" r:id="rId14"/>
    <p:sldId id="302" r:id="rId15"/>
    <p:sldId id="307" r:id="rId16"/>
    <p:sldId id="304" r:id="rId17"/>
    <p:sldId id="306" r:id="rId18"/>
    <p:sldId id="308" r:id="rId19"/>
    <p:sldId id="305" r:id="rId20"/>
    <p:sldId id="300" r:id="rId21"/>
    <p:sldId id="278" r:id="rId22"/>
    <p:sldId id="309" r:id="rId23"/>
    <p:sldId id="299" r:id="rId24"/>
    <p:sldId id="281" r:id="rId25"/>
    <p:sldId id="280" r:id="rId26"/>
    <p:sldId id="31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E3B42A-DDB3-3AD5-EC62-481E0EBFD62F}" v="404" dt="2023-02-20T16:27:23.9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71" autoAdjust="0"/>
    <p:restoredTop sz="94946" autoAdjust="0"/>
  </p:normalViewPr>
  <p:slideViewPr>
    <p:cSldViewPr snapToGrid="0">
      <p:cViewPr varScale="1">
        <p:scale>
          <a:sx n="88" d="100"/>
          <a:sy n="88" d="100"/>
        </p:scale>
        <p:origin x="18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 Id="rId8" Type="http://schemas.openxmlformats.org/officeDocument/2006/relationships/slide" Target="slides/slide6.xml"/></Relationships>
</file>

<file path=ppt/charts/_rels/chart1.xml.rels><?xml version="1.0" encoding="UTF-8" standalone="yes"?>
<Relationships xmlns="http://schemas.openxmlformats.org/package/2006/relationships"><Relationship Id="rId3" Type="http://schemas.openxmlformats.org/officeDocument/2006/relationships/oleObject" Target="file:////Users/smyy.karaalioglu/Desktop/MGT8823%20Cont%20Improv/w5/LSS%20Data%20Collection%20Pla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smyy.karaalioglu/Desktop/MGT8823%20Cont%20Improv/w5/LSS%20Data%20Collection%20Plan.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ED4F-0546-BF13-8859D492A703}"/>
              </c:ext>
            </c:extLst>
          </c:dPt>
          <c:dPt>
            <c:idx val="1"/>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ED4F-0546-BF13-8859D492A703}"/>
              </c:ext>
            </c:extLst>
          </c:dPt>
          <c:dPt>
            <c:idx val="2"/>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ED4F-0546-BF13-8859D492A703}"/>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1-ED4F-0546-BF13-8859D492A703}"/>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3-ED4F-0546-BF13-8859D492A703}"/>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5"/>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5-ED4F-0546-BF13-8859D492A703}"/>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Sheet1!$D$5:$D$7</c:f>
              <c:strCache>
                <c:ptCount val="3"/>
                <c:pt idx="0">
                  <c:v>Major defect</c:v>
                </c:pt>
                <c:pt idx="1">
                  <c:v>Minor defect</c:v>
                </c:pt>
                <c:pt idx="2">
                  <c:v>No defect</c:v>
                </c:pt>
              </c:strCache>
            </c:strRef>
          </c:cat>
          <c:val>
            <c:numRef>
              <c:f>Sheet1!$E$5:$E$7</c:f>
              <c:numCache>
                <c:formatCode>General</c:formatCode>
                <c:ptCount val="3"/>
                <c:pt idx="0">
                  <c:v>31</c:v>
                </c:pt>
                <c:pt idx="1">
                  <c:v>17</c:v>
                </c:pt>
                <c:pt idx="2">
                  <c:v>5</c:v>
                </c:pt>
              </c:numCache>
            </c:numRef>
          </c:val>
          <c:extLst>
            <c:ext xmlns:c16="http://schemas.microsoft.com/office/drawing/2014/chart" uri="{C3380CC4-5D6E-409C-BE32-E72D297353CC}">
              <c16:uniqueId val="{00000006-ED4F-0546-BF13-8859D492A703}"/>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[LSS Data Collection Plan.xlsx]Sheet5!PivotTable3</c:name>
    <c:fmtId val="7"/>
  </c:pivotSource>
  <c:chart>
    <c:autoTitleDeleted val="0"/>
    <c:pivotFmts>
      <c:pivotFmt>
        <c:idx val="0"/>
        <c:spPr>
          <a:solidFill>
            <a:schemeClr val="accent1"/>
          </a:solidFill>
          <a:ln>
            <a:noFill/>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circle"/>
          <c:size val="5"/>
          <c:spPr>
            <a:solidFill>
              <a:schemeClr val="accent5"/>
            </a:solidFill>
            <a:ln w="9525">
              <a:solidFill>
                <a:schemeClr val="accent5"/>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Sheet5!$B$3:$B$4</c:f>
              <c:strCache>
                <c:ptCount val="1"/>
                <c:pt idx="0">
                  <c:v>major defect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Sheet5!$A$5:$A$9</c:f>
              <c:strCache>
                <c:ptCount val="4"/>
                <c:pt idx="0">
                  <c:v>glaze only</c:v>
                </c:pt>
                <c:pt idx="1">
                  <c:v>heavy</c:v>
                </c:pt>
                <c:pt idx="2">
                  <c:v>light</c:v>
                </c:pt>
                <c:pt idx="3">
                  <c:v>medium</c:v>
                </c:pt>
              </c:strCache>
            </c:strRef>
          </c:cat>
          <c:val>
            <c:numRef>
              <c:f>Sheet5!$B$5:$B$9</c:f>
              <c:numCache>
                <c:formatCode>General</c:formatCode>
                <c:ptCount val="4"/>
                <c:pt idx="1">
                  <c:v>7</c:v>
                </c:pt>
                <c:pt idx="2">
                  <c:v>1</c:v>
                </c:pt>
                <c:pt idx="3">
                  <c:v>23</c:v>
                </c:pt>
              </c:numCache>
            </c:numRef>
          </c:val>
          <c:extLst>
            <c:ext xmlns:c16="http://schemas.microsoft.com/office/drawing/2014/chart" uri="{C3380CC4-5D6E-409C-BE32-E72D297353CC}">
              <c16:uniqueId val="{00000000-F08D-954B-8105-DAB818ACE7BC}"/>
            </c:ext>
          </c:extLst>
        </c:ser>
        <c:ser>
          <c:idx val="1"/>
          <c:order val="1"/>
          <c:tx>
            <c:strRef>
              <c:f>Sheet5!$C$3:$C$4</c:f>
              <c:strCache>
                <c:ptCount val="1"/>
                <c:pt idx="0">
                  <c:v>minor defect</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Sheet5!$A$5:$A$9</c:f>
              <c:strCache>
                <c:ptCount val="4"/>
                <c:pt idx="0">
                  <c:v>glaze only</c:v>
                </c:pt>
                <c:pt idx="1">
                  <c:v>heavy</c:v>
                </c:pt>
                <c:pt idx="2">
                  <c:v>light</c:v>
                </c:pt>
                <c:pt idx="3">
                  <c:v>medium</c:v>
                </c:pt>
              </c:strCache>
            </c:strRef>
          </c:cat>
          <c:val>
            <c:numRef>
              <c:f>Sheet5!$C$5:$C$9</c:f>
              <c:numCache>
                <c:formatCode>General</c:formatCode>
                <c:ptCount val="4"/>
                <c:pt idx="2">
                  <c:v>5</c:v>
                </c:pt>
                <c:pt idx="3">
                  <c:v>12</c:v>
                </c:pt>
              </c:numCache>
            </c:numRef>
          </c:val>
          <c:extLst>
            <c:ext xmlns:c16="http://schemas.microsoft.com/office/drawing/2014/chart" uri="{C3380CC4-5D6E-409C-BE32-E72D297353CC}">
              <c16:uniqueId val="{00000001-F08D-954B-8105-DAB818ACE7BC}"/>
            </c:ext>
          </c:extLst>
        </c:ser>
        <c:ser>
          <c:idx val="2"/>
          <c:order val="2"/>
          <c:tx>
            <c:strRef>
              <c:f>Sheet5!$D$3:$D$4</c:f>
              <c:strCache>
                <c:ptCount val="1"/>
                <c:pt idx="0">
                  <c:v>no defect</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Sheet5!$A$5:$A$9</c:f>
              <c:strCache>
                <c:ptCount val="4"/>
                <c:pt idx="0">
                  <c:v>glaze only</c:v>
                </c:pt>
                <c:pt idx="1">
                  <c:v>heavy</c:v>
                </c:pt>
                <c:pt idx="2">
                  <c:v>light</c:v>
                </c:pt>
                <c:pt idx="3">
                  <c:v>medium</c:v>
                </c:pt>
              </c:strCache>
            </c:strRef>
          </c:cat>
          <c:val>
            <c:numRef>
              <c:f>Sheet5!$D$5:$D$9</c:f>
              <c:numCache>
                <c:formatCode>General</c:formatCode>
                <c:ptCount val="4"/>
                <c:pt idx="0">
                  <c:v>5</c:v>
                </c:pt>
              </c:numCache>
            </c:numRef>
          </c:val>
          <c:extLst>
            <c:ext xmlns:c16="http://schemas.microsoft.com/office/drawing/2014/chart" uri="{C3380CC4-5D6E-409C-BE32-E72D297353CC}">
              <c16:uniqueId val="{00000002-F08D-954B-8105-DAB818ACE7BC}"/>
            </c:ext>
          </c:extLst>
        </c:ser>
        <c:dLbls>
          <c:dLblPos val="ctr"/>
          <c:showLegendKey val="0"/>
          <c:showVal val="1"/>
          <c:showCatName val="0"/>
          <c:showSerName val="0"/>
          <c:showPercent val="0"/>
          <c:showBubbleSize val="0"/>
        </c:dLbls>
        <c:gapWidth val="150"/>
        <c:overlap val="100"/>
        <c:axId val="1707332880"/>
        <c:axId val="1732726768"/>
      </c:barChart>
      <c:catAx>
        <c:axId val="1707332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32726768"/>
        <c:crosses val="autoZero"/>
        <c:auto val="1"/>
        <c:lblAlgn val="ctr"/>
        <c:lblOffset val="100"/>
        <c:noMultiLvlLbl val="0"/>
      </c:catAx>
      <c:valAx>
        <c:axId val="17327267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0733288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[LSS Data Collection Plan.xlsx]Sheet8!PivotTable4</c:name>
    <c:fmtId val="5"/>
  </c:pivotSource>
  <c:chart>
    <c:autoTitleDeleted val="0"/>
    <c:pivotFmts>
      <c:pivotFmt>
        <c:idx val="0"/>
        <c:spPr>
          <a:solidFill>
            <a:schemeClr val="accent1"/>
          </a:solidFill>
          <a:ln>
            <a:noFill/>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circle"/>
          <c:size val="5"/>
          <c:spPr>
            <a:solidFill>
              <a:schemeClr val="accent5"/>
            </a:solidFill>
            <a:ln w="9525">
              <a:solidFill>
                <a:schemeClr val="accent5"/>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Sheet8!$B$3:$B$4</c:f>
              <c:strCache>
                <c:ptCount val="1"/>
                <c:pt idx="0">
                  <c:v>major defect</c:v>
                </c:pt>
              </c:strCache>
            </c:strRef>
          </c:tx>
          <c:spPr>
            <a:solidFill>
              <a:schemeClr val="accent1"/>
            </a:solidFill>
            <a:ln>
              <a:noFill/>
            </a:ln>
            <a:effectLst/>
          </c:spPr>
          <c:invertIfNegative val="0"/>
          <c:cat>
            <c:strRef>
              <c:f>Sheet8!$A$5:$A$14</c:f>
              <c:strCache>
                <c:ptCount val="9"/>
                <c:pt idx="0">
                  <c:v>blue paint</c:v>
                </c:pt>
                <c:pt idx="1">
                  <c:v>green paint</c:v>
                </c:pt>
                <c:pt idx="2">
                  <c:v>mixed colors</c:v>
                </c:pt>
                <c:pt idx="3">
                  <c:v>no paint</c:v>
                </c:pt>
                <c:pt idx="4">
                  <c:v>orange paint</c:v>
                </c:pt>
                <c:pt idx="5">
                  <c:v>pink paint</c:v>
                </c:pt>
                <c:pt idx="6">
                  <c:v>purple point</c:v>
                </c:pt>
                <c:pt idx="7">
                  <c:v>red paint</c:v>
                </c:pt>
                <c:pt idx="8">
                  <c:v>yellow paint</c:v>
                </c:pt>
              </c:strCache>
            </c:strRef>
          </c:cat>
          <c:val>
            <c:numRef>
              <c:f>Sheet8!$B$5:$B$14</c:f>
              <c:numCache>
                <c:formatCode>General</c:formatCode>
                <c:ptCount val="9"/>
                <c:pt idx="0">
                  <c:v>3</c:v>
                </c:pt>
                <c:pt idx="1">
                  <c:v>2</c:v>
                </c:pt>
                <c:pt idx="2">
                  <c:v>4</c:v>
                </c:pt>
                <c:pt idx="4">
                  <c:v>3</c:v>
                </c:pt>
                <c:pt idx="5">
                  <c:v>7</c:v>
                </c:pt>
                <c:pt idx="6">
                  <c:v>1</c:v>
                </c:pt>
                <c:pt idx="7">
                  <c:v>7</c:v>
                </c:pt>
                <c:pt idx="8">
                  <c:v>4</c:v>
                </c:pt>
              </c:numCache>
            </c:numRef>
          </c:val>
          <c:extLst>
            <c:ext xmlns:c16="http://schemas.microsoft.com/office/drawing/2014/chart" uri="{C3380CC4-5D6E-409C-BE32-E72D297353CC}">
              <c16:uniqueId val="{00000000-6524-0045-B138-C26047C9D751}"/>
            </c:ext>
          </c:extLst>
        </c:ser>
        <c:ser>
          <c:idx val="1"/>
          <c:order val="1"/>
          <c:tx>
            <c:strRef>
              <c:f>Sheet8!$C$3:$C$4</c:f>
              <c:strCache>
                <c:ptCount val="1"/>
                <c:pt idx="0">
                  <c:v>minor defect</c:v>
                </c:pt>
              </c:strCache>
            </c:strRef>
          </c:tx>
          <c:spPr>
            <a:solidFill>
              <a:schemeClr val="accent3"/>
            </a:solidFill>
            <a:ln>
              <a:noFill/>
            </a:ln>
            <a:effectLst/>
          </c:spPr>
          <c:invertIfNegative val="0"/>
          <c:cat>
            <c:strRef>
              <c:f>Sheet8!$A$5:$A$14</c:f>
              <c:strCache>
                <c:ptCount val="9"/>
                <c:pt idx="0">
                  <c:v>blue paint</c:v>
                </c:pt>
                <c:pt idx="1">
                  <c:v>green paint</c:v>
                </c:pt>
                <c:pt idx="2">
                  <c:v>mixed colors</c:v>
                </c:pt>
                <c:pt idx="3">
                  <c:v>no paint</c:v>
                </c:pt>
                <c:pt idx="4">
                  <c:v>orange paint</c:v>
                </c:pt>
                <c:pt idx="5">
                  <c:v>pink paint</c:v>
                </c:pt>
                <c:pt idx="6">
                  <c:v>purple point</c:v>
                </c:pt>
                <c:pt idx="7">
                  <c:v>red paint</c:v>
                </c:pt>
                <c:pt idx="8">
                  <c:v>yellow paint</c:v>
                </c:pt>
              </c:strCache>
            </c:strRef>
          </c:cat>
          <c:val>
            <c:numRef>
              <c:f>Sheet8!$C$5:$C$14</c:f>
              <c:numCache>
                <c:formatCode>General</c:formatCode>
                <c:ptCount val="9"/>
                <c:pt idx="1">
                  <c:v>3</c:v>
                </c:pt>
                <c:pt idx="2">
                  <c:v>2</c:v>
                </c:pt>
                <c:pt idx="4">
                  <c:v>1</c:v>
                </c:pt>
                <c:pt idx="5">
                  <c:v>4</c:v>
                </c:pt>
                <c:pt idx="6">
                  <c:v>3</c:v>
                </c:pt>
                <c:pt idx="7">
                  <c:v>2</c:v>
                </c:pt>
                <c:pt idx="8">
                  <c:v>2</c:v>
                </c:pt>
              </c:numCache>
            </c:numRef>
          </c:val>
          <c:extLst>
            <c:ext xmlns:c16="http://schemas.microsoft.com/office/drawing/2014/chart" uri="{C3380CC4-5D6E-409C-BE32-E72D297353CC}">
              <c16:uniqueId val="{00000001-6524-0045-B138-C26047C9D751}"/>
            </c:ext>
          </c:extLst>
        </c:ser>
        <c:ser>
          <c:idx val="2"/>
          <c:order val="2"/>
          <c:tx>
            <c:strRef>
              <c:f>Sheet8!$D$3:$D$4</c:f>
              <c:strCache>
                <c:ptCount val="1"/>
                <c:pt idx="0">
                  <c:v>no defect</c:v>
                </c:pt>
              </c:strCache>
            </c:strRef>
          </c:tx>
          <c:spPr>
            <a:solidFill>
              <a:schemeClr val="accent5"/>
            </a:solidFill>
            <a:ln>
              <a:noFill/>
            </a:ln>
            <a:effectLst/>
          </c:spPr>
          <c:invertIfNegative val="0"/>
          <c:cat>
            <c:strRef>
              <c:f>Sheet8!$A$5:$A$14</c:f>
              <c:strCache>
                <c:ptCount val="9"/>
                <c:pt idx="0">
                  <c:v>blue paint</c:v>
                </c:pt>
                <c:pt idx="1">
                  <c:v>green paint</c:v>
                </c:pt>
                <c:pt idx="2">
                  <c:v>mixed colors</c:v>
                </c:pt>
                <c:pt idx="3">
                  <c:v>no paint</c:v>
                </c:pt>
                <c:pt idx="4">
                  <c:v>orange paint</c:v>
                </c:pt>
                <c:pt idx="5">
                  <c:v>pink paint</c:v>
                </c:pt>
                <c:pt idx="6">
                  <c:v>purple point</c:v>
                </c:pt>
                <c:pt idx="7">
                  <c:v>red paint</c:v>
                </c:pt>
                <c:pt idx="8">
                  <c:v>yellow paint</c:v>
                </c:pt>
              </c:strCache>
            </c:strRef>
          </c:cat>
          <c:val>
            <c:numRef>
              <c:f>Sheet8!$D$5:$D$14</c:f>
              <c:numCache>
                <c:formatCode>General</c:formatCode>
                <c:ptCount val="9"/>
                <c:pt idx="3">
                  <c:v>5</c:v>
                </c:pt>
              </c:numCache>
            </c:numRef>
          </c:val>
          <c:extLst>
            <c:ext xmlns:c16="http://schemas.microsoft.com/office/drawing/2014/chart" uri="{C3380CC4-5D6E-409C-BE32-E72D297353CC}">
              <c16:uniqueId val="{00000002-6524-0045-B138-C26047C9D751}"/>
            </c:ext>
          </c:extLst>
        </c:ser>
        <c:dLbls>
          <c:showLegendKey val="0"/>
          <c:showVal val="0"/>
          <c:showCatName val="0"/>
          <c:showSerName val="0"/>
          <c:showPercent val="0"/>
          <c:showBubbleSize val="0"/>
        </c:dLbls>
        <c:gapWidth val="150"/>
        <c:overlap val="100"/>
        <c:axId val="1713275104"/>
        <c:axId val="1792817264"/>
      </c:barChart>
      <c:catAx>
        <c:axId val="1713275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2817264"/>
        <c:crosses val="autoZero"/>
        <c:auto val="1"/>
        <c:lblAlgn val="ctr"/>
        <c:lblOffset val="100"/>
        <c:noMultiLvlLbl val="0"/>
      </c:catAx>
      <c:valAx>
        <c:axId val="1792817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132751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2C978-23BB-4ADF-820F-F27C70DD390D}" type="datetimeFigureOut">
              <a:rPr lang="en-US" smtClean="0"/>
              <a:t>7/26/26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BCE9E0-AE48-4662-824C-47AA3D119582}" type="slidenum">
              <a:rPr lang="en-US" smtClean="0"/>
              <a:t>‹#›</a:t>
            </a:fld>
            <a:endParaRPr lang="en-US"/>
          </a:p>
        </p:txBody>
      </p:sp>
    </p:spTree>
    <p:extLst>
      <p:ext uri="{BB962C8B-B14F-4D97-AF65-F5344CB8AC3E}">
        <p14:creationId xmlns:p14="http://schemas.microsoft.com/office/powerpoint/2010/main" val="221929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BCE9E0-AE48-4662-824C-47AA3D119582}" type="slidenum">
              <a:rPr lang="en-US" smtClean="0"/>
              <a:t>3</a:t>
            </a:fld>
            <a:endParaRPr lang="en-US"/>
          </a:p>
        </p:txBody>
      </p:sp>
    </p:spTree>
    <p:extLst>
      <p:ext uri="{BB962C8B-B14F-4D97-AF65-F5344CB8AC3E}">
        <p14:creationId xmlns:p14="http://schemas.microsoft.com/office/powerpoint/2010/main" val="1032876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DBCE9E0-AE48-4662-824C-47AA3D119582}" type="slidenum">
              <a:rPr lang="en-US" smtClean="0"/>
              <a:t>13</a:t>
            </a:fld>
            <a:endParaRPr lang="en-US"/>
          </a:p>
        </p:txBody>
      </p:sp>
    </p:spTree>
    <p:extLst>
      <p:ext uri="{BB962C8B-B14F-4D97-AF65-F5344CB8AC3E}">
        <p14:creationId xmlns:p14="http://schemas.microsoft.com/office/powerpoint/2010/main" val="2153658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631BCBC-B887-48EA-9C58-87B4BA1A0A4B}"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E6AC38-6C2E-44C2-B329-45A5754CF78E}" type="slidenum">
              <a:rPr lang="en-US" smtClean="0"/>
              <a:t>‹#›</a:t>
            </a:fld>
            <a:endParaRPr lang="en-US"/>
          </a:p>
        </p:txBody>
      </p:sp>
    </p:spTree>
    <p:extLst>
      <p:ext uri="{BB962C8B-B14F-4D97-AF65-F5344CB8AC3E}">
        <p14:creationId xmlns:p14="http://schemas.microsoft.com/office/powerpoint/2010/main" val="1878755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31BCBC-B887-48EA-9C58-87B4BA1A0A4B}"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E6AC38-6C2E-44C2-B329-45A5754CF78E}" type="slidenum">
              <a:rPr lang="en-US" smtClean="0"/>
              <a:t>‹#›</a:t>
            </a:fld>
            <a:endParaRPr lang="en-US"/>
          </a:p>
        </p:txBody>
      </p:sp>
    </p:spTree>
    <p:extLst>
      <p:ext uri="{BB962C8B-B14F-4D97-AF65-F5344CB8AC3E}">
        <p14:creationId xmlns:p14="http://schemas.microsoft.com/office/powerpoint/2010/main" val="3658803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31BCBC-B887-48EA-9C58-87B4BA1A0A4B}"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E6AC38-6C2E-44C2-B329-45A5754CF78E}" type="slidenum">
              <a:rPr lang="en-US" smtClean="0"/>
              <a:t>‹#›</a:t>
            </a:fld>
            <a:endParaRPr lang="en-US"/>
          </a:p>
        </p:txBody>
      </p:sp>
    </p:spTree>
    <p:extLst>
      <p:ext uri="{BB962C8B-B14F-4D97-AF65-F5344CB8AC3E}">
        <p14:creationId xmlns:p14="http://schemas.microsoft.com/office/powerpoint/2010/main" val="300800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631BCBC-B887-48EA-9C58-87B4BA1A0A4B}" type="datetimeFigureOut">
              <a:rPr lang="en-US" smtClean="0"/>
              <a:t>7/26/26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E6AC38-6C2E-44C2-B329-45A5754CF78E}" type="slidenum">
              <a:rPr lang="en-US" smtClean="0"/>
              <a:t>‹#›</a:t>
            </a:fld>
            <a:endParaRPr lang="en-US"/>
          </a:p>
        </p:txBody>
      </p:sp>
    </p:spTree>
    <p:extLst>
      <p:ext uri="{BB962C8B-B14F-4D97-AF65-F5344CB8AC3E}">
        <p14:creationId xmlns:p14="http://schemas.microsoft.com/office/powerpoint/2010/main" val="4268050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631BCBC-B887-48EA-9C58-87B4BA1A0A4B}" type="datetimeFigureOut">
              <a:rPr lang="en-US" smtClean="0"/>
              <a:t>7/26/26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E6AC38-6C2E-44C2-B329-45A5754CF78E}" type="slidenum">
              <a:rPr lang="en-US" smtClean="0"/>
              <a:t>‹#›</a:t>
            </a:fld>
            <a:endParaRPr lang="en-US"/>
          </a:p>
        </p:txBody>
      </p:sp>
    </p:spTree>
    <p:extLst>
      <p:ext uri="{BB962C8B-B14F-4D97-AF65-F5344CB8AC3E}">
        <p14:creationId xmlns:p14="http://schemas.microsoft.com/office/powerpoint/2010/main" val="3057299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631BCBC-B887-48EA-9C58-87B4BA1A0A4B}" type="datetimeFigureOut">
              <a:rPr lang="en-US" smtClean="0"/>
              <a:t>7/26/26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E6AC38-6C2E-44C2-B329-45A5754CF78E}" type="slidenum">
              <a:rPr lang="en-US" smtClean="0"/>
              <a:t>‹#›</a:t>
            </a:fld>
            <a:endParaRPr lang="en-US"/>
          </a:p>
        </p:txBody>
      </p:sp>
    </p:spTree>
    <p:extLst>
      <p:ext uri="{BB962C8B-B14F-4D97-AF65-F5344CB8AC3E}">
        <p14:creationId xmlns:p14="http://schemas.microsoft.com/office/powerpoint/2010/main" val="3788313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31BCBC-B887-48EA-9C58-87B4BA1A0A4B}" type="datetimeFigureOut">
              <a:rPr lang="en-US" smtClean="0"/>
              <a:t>7/26/26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E6AC38-6C2E-44C2-B329-45A5754CF78E}" type="slidenum">
              <a:rPr lang="en-US" smtClean="0"/>
              <a:t>‹#›</a:t>
            </a:fld>
            <a:endParaRPr lang="en-US"/>
          </a:p>
        </p:txBody>
      </p:sp>
    </p:spTree>
    <p:extLst>
      <p:ext uri="{BB962C8B-B14F-4D97-AF65-F5344CB8AC3E}">
        <p14:creationId xmlns:p14="http://schemas.microsoft.com/office/powerpoint/2010/main" val="1295437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31BCBC-B887-48EA-9C58-87B4BA1A0A4B}" type="datetimeFigureOut">
              <a:rPr lang="en-US" smtClean="0"/>
              <a:t>7/26/26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E6AC38-6C2E-44C2-B329-45A5754CF78E}" type="slidenum">
              <a:rPr lang="en-US" smtClean="0"/>
              <a:t>‹#›</a:t>
            </a:fld>
            <a:endParaRPr lang="en-US"/>
          </a:p>
        </p:txBody>
      </p:sp>
    </p:spTree>
    <p:extLst>
      <p:ext uri="{BB962C8B-B14F-4D97-AF65-F5344CB8AC3E}">
        <p14:creationId xmlns:p14="http://schemas.microsoft.com/office/powerpoint/2010/main" val="3495797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31BCBC-B887-48EA-9C58-87B4BA1A0A4B}" type="datetimeFigureOut">
              <a:rPr lang="en-US" smtClean="0"/>
              <a:t>7/26/26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E6AC38-6C2E-44C2-B329-45A5754CF78E}" type="slidenum">
              <a:rPr lang="en-US" smtClean="0"/>
              <a:t>‹#›</a:t>
            </a:fld>
            <a:endParaRPr lang="en-US"/>
          </a:p>
        </p:txBody>
      </p:sp>
    </p:spTree>
    <p:extLst>
      <p:ext uri="{BB962C8B-B14F-4D97-AF65-F5344CB8AC3E}">
        <p14:creationId xmlns:p14="http://schemas.microsoft.com/office/powerpoint/2010/main" val="1921596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31BCBC-B887-48EA-9C58-87B4BA1A0A4B}"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E6AC38-6C2E-44C2-B329-45A5754CF78E}" type="slidenum">
              <a:rPr lang="en-US" smtClean="0"/>
              <a:t>‹#›</a:t>
            </a:fld>
            <a:endParaRPr lang="en-US"/>
          </a:p>
        </p:txBody>
      </p:sp>
    </p:spTree>
    <p:extLst>
      <p:ext uri="{BB962C8B-B14F-4D97-AF65-F5344CB8AC3E}">
        <p14:creationId xmlns:p14="http://schemas.microsoft.com/office/powerpoint/2010/main" val="120295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31BCBC-B887-48EA-9C58-87B4BA1A0A4B}"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E6AC38-6C2E-44C2-B329-45A5754CF78E}" type="slidenum">
              <a:rPr lang="en-US" smtClean="0"/>
              <a:t>‹#›</a:t>
            </a:fld>
            <a:endParaRPr lang="en-US"/>
          </a:p>
        </p:txBody>
      </p:sp>
    </p:spTree>
    <p:extLst>
      <p:ext uri="{BB962C8B-B14F-4D97-AF65-F5344CB8AC3E}">
        <p14:creationId xmlns:p14="http://schemas.microsoft.com/office/powerpoint/2010/main" val="4373263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descr="I:\MARKETING\Marketing Advertising\Logos\Approved Scheller Logos\Scheller CoB logo - Short\SchellerCollegeofBusiness-solid-2lines-539+874\SchellerCollegeofBusiness-solid-2lines-539+874.jpg"/>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940800" y="6341027"/>
            <a:ext cx="3048000" cy="392596"/>
          </a:xfrm>
          <a:prstGeom prst="rect">
            <a:avLst/>
          </a:prstGeom>
          <a:noFill/>
          <a:ln>
            <a:noFill/>
          </a:ln>
        </p:spPr>
      </p:pic>
    </p:spTree>
    <p:extLst>
      <p:ext uri="{BB962C8B-B14F-4D97-AF65-F5344CB8AC3E}">
        <p14:creationId xmlns:p14="http://schemas.microsoft.com/office/powerpoint/2010/main" val="4269894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31BCBC-B887-48EA-9C58-87B4BA1A0A4B}" type="datetimeFigureOut">
              <a:rPr lang="en-US" smtClean="0"/>
              <a:t>7/26/26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E6AC38-6C2E-44C2-B329-45A5754CF78E}" type="slidenum">
              <a:rPr lang="en-US" smtClean="0"/>
              <a:t>‹#›</a:t>
            </a:fld>
            <a:endParaRPr lang="en-US"/>
          </a:p>
        </p:txBody>
      </p:sp>
      <p:pic>
        <p:nvPicPr>
          <p:cNvPr id="7" name="Picture 6" descr="I:\MARKETING\Marketing Advertising\Logos\Approved Scheller Logos\Scheller CoB logo - Short\SchellerCollegeofBusiness-solid-2lines-539+874\SchellerCollegeofBusiness-solid-2lines-539+874.jpg"/>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8940800" y="6341027"/>
            <a:ext cx="3048000" cy="392596"/>
          </a:xfrm>
          <a:prstGeom prst="rect">
            <a:avLst/>
          </a:prstGeom>
          <a:noFill/>
          <a:ln>
            <a:noFill/>
          </a:ln>
        </p:spPr>
      </p:pic>
    </p:spTree>
    <p:extLst>
      <p:ext uri="{BB962C8B-B14F-4D97-AF65-F5344CB8AC3E}">
        <p14:creationId xmlns:p14="http://schemas.microsoft.com/office/powerpoint/2010/main" val="4287572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838200"/>
            <a:ext cx="10972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09600" y="1905001"/>
            <a:ext cx="10972800" cy="414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4562825"/>
      </p:ext>
    </p:extLst>
  </p:cSld>
  <p:clrMap bg1="lt1" tx1="dk1" bg2="lt2" tx2="dk2" accent1="accent1" accent2="accent2" accent3="accent3" accent4="accent4" accent5="accent5" accent6="accent6" hlink="hlink" folHlink="folHlink"/>
  <p:sldLayoutIdLst>
    <p:sldLayoutId id="2147483661" r:id="rId1"/>
  </p:sldLayoutIdLst>
  <p:txStyles>
    <p:titleStyle>
      <a:lvl1pPr algn="l" rtl="0" eaLnBrk="0" fontAlgn="base" hangingPunct="0">
        <a:spcBef>
          <a:spcPct val="0"/>
        </a:spcBef>
        <a:spcAft>
          <a:spcPct val="0"/>
        </a:spcAft>
        <a:defRPr sz="3200" b="1">
          <a:solidFill>
            <a:srgbClr val="CC9900"/>
          </a:solidFill>
          <a:latin typeface="+mj-lt"/>
          <a:ea typeface="+mj-ea"/>
          <a:cs typeface="+mj-cs"/>
        </a:defRPr>
      </a:lvl1pPr>
      <a:lvl2pPr algn="l" rtl="0" eaLnBrk="0" fontAlgn="base" hangingPunct="0">
        <a:spcBef>
          <a:spcPct val="0"/>
        </a:spcBef>
        <a:spcAft>
          <a:spcPct val="0"/>
        </a:spcAft>
        <a:defRPr sz="3200" b="1">
          <a:solidFill>
            <a:srgbClr val="CC9900"/>
          </a:solidFill>
          <a:latin typeface="Arial" charset="0"/>
        </a:defRPr>
      </a:lvl2pPr>
      <a:lvl3pPr algn="l" rtl="0" eaLnBrk="0" fontAlgn="base" hangingPunct="0">
        <a:spcBef>
          <a:spcPct val="0"/>
        </a:spcBef>
        <a:spcAft>
          <a:spcPct val="0"/>
        </a:spcAft>
        <a:defRPr sz="3200" b="1">
          <a:solidFill>
            <a:srgbClr val="CC9900"/>
          </a:solidFill>
          <a:latin typeface="Arial" charset="0"/>
        </a:defRPr>
      </a:lvl3pPr>
      <a:lvl4pPr algn="l" rtl="0" eaLnBrk="0" fontAlgn="base" hangingPunct="0">
        <a:spcBef>
          <a:spcPct val="0"/>
        </a:spcBef>
        <a:spcAft>
          <a:spcPct val="0"/>
        </a:spcAft>
        <a:defRPr sz="3200" b="1">
          <a:solidFill>
            <a:srgbClr val="CC9900"/>
          </a:solidFill>
          <a:latin typeface="Arial" charset="0"/>
        </a:defRPr>
      </a:lvl4pPr>
      <a:lvl5pPr algn="l" rtl="0" eaLnBrk="0" fontAlgn="base" hangingPunct="0">
        <a:spcBef>
          <a:spcPct val="0"/>
        </a:spcBef>
        <a:spcAft>
          <a:spcPct val="0"/>
        </a:spcAft>
        <a:defRPr sz="3200" b="1">
          <a:solidFill>
            <a:srgbClr val="CC9900"/>
          </a:solidFill>
          <a:latin typeface="Arial" charset="0"/>
        </a:defRPr>
      </a:lvl5pPr>
      <a:lvl6pPr marL="457200" algn="l" rtl="0" fontAlgn="base">
        <a:spcBef>
          <a:spcPct val="0"/>
        </a:spcBef>
        <a:spcAft>
          <a:spcPct val="0"/>
        </a:spcAft>
        <a:defRPr sz="3200" b="1">
          <a:solidFill>
            <a:srgbClr val="CC9900"/>
          </a:solidFill>
          <a:latin typeface="Arial" charset="0"/>
        </a:defRPr>
      </a:lvl6pPr>
      <a:lvl7pPr marL="914400" algn="l" rtl="0" fontAlgn="base">
        <a:spcBef>
          <a:spcPct val="0"/>
        </a:spcBef>
        <a:spcAft>
          <a:spcPct val="0"/>
        </a:spcAft>
        <a:defRPr sz="3200" b="1">
          <a:solidFill>
            <a:srgbClr val="CC9900"/>
          </a:solidFill>
          <a:latin typeface="Arial" charset="0"/>
        </a:defRPr>
      </a:lvl7pPr>
      <a:lvl8pPr marL="1371600" algn="l" rtl="0" fontAlgn="base">
        <a:spcBef>
          <a:spcPct val="0"/>
        </a:spcBef>
        <a:spcAft>
          <a:spcPct val="0"/>
        </a:spcAft>
        <a:defRPr sz="3200" b="1">
          <a:solidFill>
            <a:srgbClr val="CC9900"/>
          </a:solidFill>
          <a:latin typeface="Arial" charset="0"/>
        </a:defRPr>
      </a:lvl8pPr>
      <a:lvl9pPr marL="1828800" algn="l" rtl="0" fontAlgn="base">
        <a:spcBef>
          <a:spcPct val="0"/>
        </a:spcBef>
        <a:spcAft>
          <a:spcPct val="0"/>
        </a:spcAft>
        <a:defRPr sz="3200" b="1">
          <a:solidFill>
            <a:srgbClr val="CC9900"/>
          </a:solidFill>
          <a:latin typeface="Arial" charset="0"/>
        </a:defRPr>
      </a:lvl9pPr>
    </p:titleStyle>
    <p:bodyStyle>
      <a:lvl1pPr marL="342900" indent="-342900" algn="l" rtl="0" eaLnBrk="0" fontAlgn="base" hangingPunct="0">
        <a:spcBef>
          <a:spcPct val="20000"/>
        </a:spcBef>
        <a:spcAft>
          <a:spcPct val="0"/>
        </a:spcAft>
        <a:buClr>
          <a:srgbClr val="CC9900"/>
        </a:buClr>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CC99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lr>
          <a:srgbClr val="CC9900"/>
        </a:buClr>
        <a:buFont typeface="Wingdings" panose="05000000000000000000" pitchFamily="2" charset="2"/>
        <a:buChar char="§"/>
        <a:defRPr sz="2000">
          <a:solidFill>
            <a:schemeClr val="tx1"/>
          </a:solidFill>
          <a:latin typeface="+mn-lt"/>
        </a:defRPr>
      </a:lvl3pPr>
      <a:lvl4pPr marL="1600200" indent="-228600" algn="l" rtl="0" eaLnBrk="0" fontAlgn="base" hangingPunct="0">
        <a:spcBef>
          <a:spcPct val="20000"/>
        </a:spcBef>
        <a:spcAft>
          <a:spcPct val="0"/>
        </a:spcAft>
        <a:buClr>
          <a:srgbClr val="CC9900"/>
        </a:buClr>
        <a:buFont typeface="Wingdings" panose="05000000000000000000" pitchFamily="2" charset="2"/>
        <a:buChar char="§"/>
        <a:defRPr>
          <a:solidFill>
            <a:schemeClr val="tx1"/>
          </a:solidFill>
          <a:latin typeface="+mn-lt"/>
        </a:defRPr>
      </a:lvl4pPr>
      <a:lvl5pPr marL="2057400" indent="-228600" algn="l" rtl="0" eaLnBrk="0" fontAlgn="base" hangingPunct="0">
        <a:spcBef>
          <a:spcPct val="20000"/>
        </a:spcBef>
        <a:spcAft>
          <a:spcPct val="0"/>
        </a:spcAft>
        <a:buClr>
          <a:srgbClr val="CC9900"/>
        </a:buClr>
        <a:buFont typeface="Wingdings" panose="05000000000000000000" pitchFamily="2" charset="2"/>
        <a:buChar char="§"/>
        <a:defRPr>
          <a:solidFill>
            <a:schemeClr val="tx1"/>
          </a:solidFill>
          <a:latin typeface="+mn-lt"/>
        </a:defRPr>
      </a:lvl5pPr>
      <a:lvl6pPr marL="2514600" indent="-228600" algn="l" rtl="0" fontAlgn="base">
        <a:spcBef>
          <a:spcPct val="20000"/>
        </a:spcBef>
        <a:spcAft>
          <a:spcPct val="0"/>
        </a:spcAft>
        <a:buClr>
          <a:srgbClr val="CC9900"/>
        </a:buClr>
        <a:buFont typeface="Wingdings" pitchFamily="2" charset="2"/>
        <a:buChar char="§"/>
        <a:defRPr>
          <a:solidFill>
            <a:schemeClr val="tx1"/>
          </a:solidFill>
          <a:latin typeface="+mn-lt"/>
        </a:defRPr>
      </a:lvl6pPr>
      <a:lvl7pPr marL="2971800" indent="-228600" algn="l" rtl="0" fontAlgn="base">
        <a:spcBef>
          <a:spcPct val="20000"/>
        </a:spcBef>
        <a:spcAft>
          <a:spcPct val="0"/>
        </a:spcAft>
        <a:buClr>
          <a:srgbClr val="CC9900"/>
        </a:buClr>
        <a:buFont typeface="Wingdings" pitchFamily="2" charset="2"/>
        <a:buChar char="§"/>
        <a:defRPr>
          <a:solidFill>
            <a:schemeClr val="tx1"/>
          </a:solidFill>
          <a:latin typeface="+mn-lt"/>
        </a:defRPr>
      </a:lvl7pPr>
      <a:lvl8pPr marL="3429000" indent="-228600" algn="l" rtl="0" fontAlgn="base">
        <a:spcBef>
          <a:spcPct val="20000"/>
        </a:spcBef>
        <a:spcAft>
          <a:spcPct val="0"/>
        </a:spcAft>
        <a:buClr>
          <a:srgbClr val="CC9900"/>
        </a:buClr>
        <a:buFont typeface="Wingdings" pitchFamily="2" charset="2"/>
        <a:buChar char="§"/>
        <a:defRPr>
          <a:solidFill>
            <a:schemeClr val="tx1"/>
          </a:solidFill>
          <a:latin typeface="+mn-lt"/>
        </a:defRPr>
      </a:lvl8pPr>
      <a:lvl9pPr marL="3886200" indent="-228600" algn="l" rtl="0" fontAlgn="base">
        <a:spcBef>
          <a:spcPct val="20000"/>
        </a:spcBef>
        <a:spcAft>
          <a:spcPct val="0"/>
        </a:spcAft>
        <a:buClr>
          <a:srgbClr val="CC9900"/>
        </a:buClr>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9AE5EFD-BE0C-99BA-7C55-0104912F1434}"/>
              </a:ext>
            </a:extLst>
          </p:cNvPr>
          <p:cNvSpPr>
            <a:spLocks noGrp="1"/>
          </p:cNvSpPr>
          <p:nvPr>
            <p:ph idx="1"/>
          </p:nvPr>
        </p:nvSpPr>
        <p:spPr>
          <a:xfrm>
            <a:off x="1338262" y="2251214"/>
            <a:ext cx="9677400" cy="2355571"/>
          </a:xfrm>
        </p:spPr>
        <p:txBody>
          <a:bodyPr>
            <a:noAutofit/>
          </a:bodyPr>
          <a:lstStyle/>
          <a:p>
            <a:pPr marL="0" indent="0" algn="ctr">
              <a:buNone/>
            </a:pPr>
            <a:r>
              <a:rPr lang="en-US" sz="6000" dirty="0"/>
              <a:t>Reducing Paint Related Defects in Pottery Production</a:t>
            </a:r>
          </a:p>
        </p:txBody>
      </p:sp>
      <p:sp>
        <p:nvSpPr>
          <p:cNvPr id="6" name="TextBox 5">
            <a:extLst>
              <a:ext uri="{FF2B5EF4-FFF2-40B4-BE49-F238E27FC236}">
                <a16:creationId xmlns:a16="http://schemas.microsoft.com/office/drawing/2014/main" id="{7352EB36-DFFA-53B7-62E3-A75C4804DE12}"/>
              </a:ext>
            </a:extLst>
          </p:cNvPr>
          <p:cNvSpPr txBox="1"/>
          <p:nvPr/>
        </p:nvSpPr>
        <p:spPr>
          <a:xfrm>
            <a:off x="5217459" y="3962399"/>
            <a:ext cx="3101788" cy="369332"/>
          </a:xfrm>
          <a:prstGeom prst="rect">
            <a:avLst/>
          </a:prstGeom>
          <a:noFill/>
        </p:spPr>
        <p:txBody>
          <a:bodyPr wrap="square" rtlCol="0">
            <a:spAutoFit/>
          </a:bodyPr>
          <a:lstStyle/>
          <a:p>
            <a:r>
              <a:rPr lang="en-US" b="1" dirty="0" err="1">
                <a:solidFill>
                  <a:schemeClr val="accent4">
                    <a:lumMod val="75000"/>
                  </a:schemeClr>
                </a:solidFill>
              </a:rPr>
              <a:t>Sumeyye</a:t>
            </a:r>
            <a:r>
              <a:rPr lang="en-US" b="1" dirty="0">
                <a:solidFill>
                  <a:schemeClr val="accent4">
                    <a:lumMod val="75000"/>
                  </a:schemeClr>
                </a:solidFill>
              </a:rPr>
              <a:t> </a:t>
            </a:r>
            <a:r>
              <a:rPr lang="en-US" b="1" dirty="0" err="1">
                <a:solidFill>
                  <a:schemeClr val="accent4">
                    <a:lumMod val="75000"/>
                  </a:schemeClr>
                </a:solidFill>
              </a:rPr>
              <a:t>Adanur</a:t>
            </a:r>
            <a:endParaRPr lang="en-US" b="1" dirty="0">
              <a:solidFill>
                <a:schemeClr val="accent4">
                  <a:lumMod val="75000"/>
                </a:schemeClr>
              </a:solidFill>
            </a:endParaRPr>
          </a:p>
        </p:txBody>
      </p:sp>
    </p:spTree>
    <p:extLst>
      <p:ext uri="{BB962C8B-B14F-4D97-AF65-F5344CB8AC3E}">
        <p14:creationId xmlns:p14="http://schemas.microsoft.com/office/powerpoint/2010/main" val="3469565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9F708-D254-BEC9-2557-6471CD4BA1C7}"/>
              </a:ext>
            </a:extLst>
          </p:cNvPr>
          <p:cNvSpPr>
            <a:spLocks noGrp="1"/>
          </p:cNvSpPr>
          <p:nvPr>
            <p:ph type="title"/>
          </p:nvPr>
        </p:nvSpPr>
        <p:spPr/>
        <p:txBody>
          <a:bodyPr/>
          <a:lstStyle/>
          <a:p>
            <a:r>
              <a:rPr lang="en-US" b="1" dirty="0"/>
              <a:t>Business Case</a:t>
            </a:r>
          </a:p>
        </p:txBody>
      </p:sp>
      <p:sp>
        <p:nvSpPr>
          <p:cNvPr id="3" name="Content Placeholder 2">
            <a:extLst>
              <a:ext uri="{FF2B5EF4-FFF2-40B4-BE49-F238E27FC236}">
                <a16:creationId xmlns:a16="http://schemas.microsoft.com/office/drawing/2014/main" id="{E2ED6EE9-30DC-6343-CB7D-59F4F2EAFCDB}"/>
              </a:ext>
            </a:extLst>
          </p:cNvPr>
          <p:cNvSpPr>
            <a:spLocks noGrp="1"/>
          </p:cNvSpPr>
          <p:nvPr>
            <p:ph idx="1"/>
          </p:nvPr>
        </p:nvSpPr>
        <p:spPr/>
        <p:txBody>
          <a:bodyPr>
            <a:normAutofit fontScale="77500" lnSpcReduction="20000"/>
          </a:bodyPr>
          <a:lstStyle/>
          <a:p>
            <a:r>
              <a:rPr lang="en-US" dirty="0"/>
              <a:t>My sister owns a small pottery business. Previously, she purchased pre-mixed pottery paint from suppliers, but the cost was high. To reduce costs, she learned how to create her own paint by mixing pigments and other materials according to recommended ratios.</a:t>
            </a:r>
          </a:p>
          <a:p>
            <a:r>
              <a:rPr lang="en-US" dirty="0"/>
              <a:t>After using a new paint mixture, she fired 53 pottery pieces in her kiln. Of those 53 pieces, 48 developed paint related defects after firing, resulting in a defect rate of approximately 90.6%. The few pieces that did not develop defects either had no paint applied or only a very small amount of paint.</a:t>
            </a:r>
          </a:p>
          <a:p>
            <a:r>
              <a:rPr lang="en-US" dirty="0"/>
              <a:t>The high defect rate is creating significant waste, reducing product quality, and increasing production costs. This project will focus on identifying the factors in the paint mixture that contribute to defects and determining the optimal ratio of ingredients to reduce paint related defects and improve overall production yield.</a:t>
            </a:r>
          </a:p>
          <a:p>
            <a:r>
              <a:rPr lang="en-US" dirty="0"/>
              <a:t>This project is important because defective pottery cannot be sold, resulting in lost revenue, wasted materials, and wasted labor. Every defective piece represents the cost of clay, paint ingredients, kiln usage, and production time without generating income. </a:t>
            </a:r>
          </a:p>
          <a:p>
            <a:endParaRPr lang="en-US" dirty="0"/>
          </a:p>
        </p:txBody>
      </p:sp>
      <p:sp>
        <p:nvSpPr>
          <p:cNvPr id="4" name="TextBox 3">
            <a:extLst>
              <a:ext uri="{FF2B5EF4-FFF2-40B4-BE49-F238E27FC236}">
                <a16:creationId xmlns:a16="http://schemas.microsoft.com/office/drawing/2014/main" id="{D03754C4-108E-CE3D-C43D-EF5744659C32}"/>
              </a:ext>
            </a:extLst>
          </p:cNvPr>
          <p:cNvSpPr txBox="1"/>
          <p:nvPr/>
        </p:nvSpPr>
        <p:spPr>
          <a:xfrm>
            <a:off x="251209" y="6337734"/>
            <a:ext cx="890562" cy="369332"/>
          </a:xfrm>
          <a:prstGeom prst="rect">
            <a:avLst/>
          </a:prstGeom>
          <a:noFill/>
        </p:spPr>
        <p:txBody>
          <a:bodyPr wrap="square" rtlCol="0">
            <a:spAutoFit/>
          </a:bodyPr>
          <a:lstStyle/>
          <a:p>
            <a:r>
              <a:rPr lang="en-US" b="1" dirty="0">
                <a:solidFill>
                  <a:schemeClr val="accent1"/>
                </a:solidFill>
              </a:rPr>
              <a:t>DEFINE</a:t>
            </a:r>
          </a:p>
        </p:txBody>
      </p:sp>
    </p:spTree>
    <p:extLst>
      <p:ext uri="{BB962C8B-B14F-4D97-AF65-F5344CB8AC3E}">
        <p14:creationId xmlns:p14="http://schemas.microsoft.com/office/powerpoint/2010/main" val="1787792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Problem &amp; Goal Statement</a:t>
            </a:r>
          </a:p>
        </p:txBody>
      </p:sp>
      <p:sp>
        <p:nvSpPr>
          <p:cNvPr id="3" name="Content Placeholder 2"/>
          <p:cNvSpPr>
            <a:spLocks noGrp="1"/>
          </p:cNvSpPr>
          <p:nvPr>
            <p:ph idx="1"/>
          </p:nvPr>
        </p:nvSpPr>
        <p:spPr/>
        <p:txBody>
          <a:bodyPr vert="horz" lIns="91440" tIns="45720" rIns="91440" bIns="45720" rtlCol="0" anchor="t">
            <a:normAutofit/>
          </a:bodyPr>
          <a:lstStyle/>
          <a:p>
            <a:r>
              <a:rPr lang="en-US" b="1" dirty="0"/>
              <a:t>Y Metric:</a:t>
            </a:r>
            <a:r>
              <a:rPr lang="en-US" dirty="0"/>
              <a:t> Paint Related Defect Rate (%)</a:t>
            </a:r>
            <a:br>
              <a:rPr lang="en-US" dirty="0"/>
            </a:br>
            <a:endParaRPr lang="en-US" b="1" dirty="0"/>
          </a:p>
          <a:p>
            <a:r>
              <a:rPr lang="en-US" b="1" dirty="0"/>
              <a:t>Problem</a:t>
            </a:r>
            <a:r>
              <a:rPr lang="en-US" dirty="0"/>
              <a:t>: The current paint related defect rate in pottery production is approximately 90.6%, with 48 out of 53 pottery pieces exhibiting paint related defects after firing.</a:t>
            </a:r>
            <a:br>
              <a:rPr lang="en-US" dirty="0"/>
            </a:br>
            <a:endParaRPr lang="en-US" dirty="0"/>
          </a:p>
          <a:p>
            <a:r>
              <a:rPr lang="en-US" b="1" dirty="0"/>
              <a:t>Goal</a:t>
            </a:r>
            <a:r>
              <a:rPr lang="en-US" dirty="0"/>
              <a:t>: Reduce the paint related defect rate from 90.6% to 1% by end of July, 2026.</a:t>
            </a:r>
          </a:p>
          <a:p>
            <a:endParaRPr lang="en-US" dirty="0"/>
          </a:p>
        </p:txBody>
      </p:sp>
      <p:sp>
        <p:nvSpPr>
          <p:cNvPr id="5" name="TextBox 4"/>
          <p:cNvSpPr txBox="1"/>
          <p:nvPr/>
        </p:nvSpPr>
        <p:spPr>
          <a:xfrm>
            <a:off x="251209" y="6337734"/>
            <a:ext cx="890562" cy="369332"/>
          </a:xfrm>
          <a:prstGeom prst="rect">
            <a:avLst/>
          </a:prstGeom>
          <a:noFill/>
        </p:spPr>
        <p:txBody>
          <a:bodyPr wrap="square" rtlCol="0">
            <a:spAutoFit/>
          </a:bodyPr>
          <a:lstStyle/>
          <a:p>
            <a:r>
              <a:rPr lang="en-US" b="1" dirty="0">
                <a:solidFill>
                  <a:schemeClr val="accent1"/>
                </a:solidFill>
              </a:rPr>
              <a:t>DEFINE</a:t>
            </a:r>
          </a:p>
        </p:txBody>
      </p:sp>
    </p:spTree>
    <p:extLst>
      <p:ext uri="{BB962C8B-B14F-4D97-AF65-F5344CB8AC3E}">
        <p14:creationId xmlns:p14="http://schemas.microsoft.com/office/powerpoint/2010/main" val="3299518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7D678-5A71-3790-FEFD-34A1CE5EC273}"/>
              </a:ext>
            </a:extLst>
          </p:cNvPr>
          <p:cNvSpPr>
            <a:spLocks noGrp="1"/>
          </p:cNvSpPr>
          <p:nvPr>
            <p:ph type="title"/>
          </p:nvPr>
        </p:nvSpPr>
        <p:spPr/>
        <p:txBody>
          <a:bodyPr/>
          <a:lstStyle/>
          <a:p>
            <a:r>
              <a:rPr lang="en-US" b="1" dirty="0"/>
              <a:t>Operational Definition</a:t>
            </a:r>
          </a:p>
        </p:txBody>
      </p:sp>
      <p:sp>
        <p:nvSpPr>
          <p:cNvPr id="3" name="Content Placeholder 2">
            <a:extLst>
              <a:ext uri="{FF2B5EF4-FFF2-40B4-BE49-F238E27FC236}">
                <a16:creationId xmlns:a16="http://schemas.microsoft.com/office/drawing/2014/main" id="{56F739C9-4EF1-A6BF-4E65-FB95D6D0D1FA}"/>
              </a:ext>
            </a:extLst>
          </p:cNvPr>
          <p:cNvSpPr>
            <a:spLocks noGrp="1"/>
          </p:cNvSpPr>
          <p:nvPr>
            <p:ph idx="1"/>
          </p:nvPr>
        </p:nvSpPr>
        <p:spPr/>
        <p:txBody>
          <a:bodyPr/>
          <a:lstStyle/>
          <a:p>
            <a:r>
              <a:rPr lang="en-US" dirty="0"/>
              <a:t>Defects </a:t>
            </a:r>
            <a:r>
              <a:rPr lang="en-US" b="1" dirty="0">
                <a:solidFill>
                  <a:srgbClr val="0070C0"/>
                </a:solidFill>
              </a:rPr>
              <a:t>are defined as</a:t>
            </a:r>
            <a:r>
              <a:rPr lang="en-US" dirty="0">
                <a:solidFill>
                  <a:srgbClr val="0070C0"/>
                </a:solidFill>
              </a:rPr>
              <a:t> </a:t>
            </a:r>
            <a:r>
              <a:rPr lang="en-US" dirty="0"/>
              <a:t>any fired pottery piece that has one or more paint related defects, including paint chipping, peeling, cracking, bubbling, blistering, discoloration, or poor paint adhesion </a:t>
            </a:r>
            <a:r>
              <a:rPr lang="en-US" b="1" dirty="0">
                <a:solidFill>
                  <a:srgbClr val="0070C0"/>
                </a:solidFill>
              </a:rPr>
              <a:t>as measured by </a:t>
            </a:r>
            <a:r>
              <a:rPr lang="en-US" dirty="0"/>
              <a:t>inspecting each fired pottery piece after kiln firing and classifying it as either defective or non defective based on the presence of these paint related issues. </a:t>
            </a:r>
          </a:p>
        </p:txBody>
      </p:sp>
      <p:sp>
        <p:nvSpPr>
          <p:cNvPr id="4" name="TextBox 3">
            <a:extLst>
              <a:ext uri="{FF2B5EF4-FFF2-40B4-BE49-F238E27FC236}">
                <a16:creationId xmlns:a16="http://schemas.microsoft.com/office/drawing/2014/main" id="{86467848-4DF1-40FB-0A40-D0071C6562C3}"/>
              </a:ext>
            </a:extLst>
          </p:cNvPr>
          <p:cNvSpPr txBox="1"/>
          <p:nvPr/>
        </p:nvSpPr>
        <p:spPr>
          <a:xfrm>
            <a:off x="251208" y="6337734"/>
            <a:ext cx="1191829" cy="369332"/>
          </a:xfrm>
          <a:prstGeom prst="rect">
            <a:avLst/>
          </a:prstGeom>
          <a:noFill/>
        </p:spPr>
        <p:txBody>
          <a:bodyPr wrap="square" rtlCol="0">
            <a:spAutoFit/>
          </a:bodyPr>
          <a:lstStyle/>
          <a:p>
            <a:r>
              <a:rPr lang="en-US" b="1" dirty="0">
                <a:solidFill>
                  <a:schemeClr val="accent1"/>
                </a:solidFill>
              </a:rPr>
              <a:t>MEASURE</a:t>
            </a:r>
          </a:p>
        </p:txBody>
      </p:sp>
    </p:spTree>
    <p:extLst>
      <p:ext uri="{BB962C8B-B14F-4D97-AF65-F5344CB8AC3E}">
        <p14:creationId xmlns:p14="http://schemas.microsoft.com/office/powerpoint/2010/main" val="302324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51A0578-AD52-EF62-6E83-97F6E3FB9726}"/>
              </a:ext>
            </a:extLst>
          </p:cNvPr>
          <p:cNvSpPr>
            <a:spLocks noGrp="1"/>
          </p:cNvSpPr>
          <p:nvPr>
            <p:ph type="title"/>
          </p:nvPr>
        </p:nvSpPr>
        <p:spPr>
          <a:xfrm>
            <a:off x="847122" y="0"/>
            <a:ext cx="10515600" cy="1325563"/>
          </a:xfrm>
        </p:spPr>
        <p:txBody>
          <a:bodyPr/>
          <a:lstStyle/>
          <a:p>
            <a:r>
              <a:rPr lang="en-US" b="1" dirty="0"/>
              <a:t>Measure - Defect Types (%)</a:t>
            </a:r>
          </a:p>
        </p:txBody>
      </p:sp>
      <p:graphicFrame>
        <p:nvGraphicFramePr>
          <p:cNvPr id="7" name="Chart 6">
            <a:extLst>
              <a:ext uri="{FF2B5EF4-FFF2-40B4-BE49-F238E27FC236}">
                <a16:creationId xmlns:a16="http://schemas.microsoft.com/office/drawing/2014/main" id="{90CE3444-1187-5451-2269-F8773BD6AE8A}"/>
              </a:ext>
            </a:extLst>
          </p:cNvPr>
          <p:cNvGraphicFramePr>
            <a:graphicFrameLocks/>
          </p:cNvGraphicFramePr>
          <p:nvPr>
            <p:extLst>
              <p:ext uri="{D42A27DB-BD31-4B8C-83A1-F6EECF244321}">
                <p14:modId xmlns:p14="http://schemas.microsoft.com/office/powerpoint/2010/main" val="1746888002"/>
              </p:ext>
            </p:extLst>
          </p:nvPr>
        </p:nvGraphicFramePr>
        <p:xfrm>
          <a:off x="2873375" y="1586408"/>
          <a:ext cx="6445250" cy="4500562"/>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E64B2BA6-8E01-94D8-93B8-5F60A35F77EB}"/>
              </a:ext>
            </a:extLst>
          </p:cNvPr>
          <p:cNvSpPr txBox="1"/>
          <p:nvPr/>
        </p:nvSpPr>
        <p:spPr>
          <a:xfrm>
            <a:off x="251208" y="6337734"/>
            <a:ext cx="1191829" cy="369332"/>
          </a:xfrm>
          <a:prstGeom prst="rect">
            <a:avLst/>
          </a:prstGeom>
          <a:noFill/>
        </p:spPr>
        <p:txBody>
          <a:bodyPr wrap="square" rtlCol="0">
            <a:spAutoFit/>
          </a:bodyPr>
          <a:lstStyle/>
          <a:p>
            <a:r>
              <a:rPr lang="en-US" b="1" dirty="0">
                <a:solidFill>
                  <a:schemeClr val="accent1"/>
                </a:solidFill>
              </a:rPr>
              <a:t>MEASURE</a:t>
            </a:r>
          </a:p>
        </p:txBody>
      </p:sp>
      <p:sp>
        <p:nvSpPr>
          <p:cNvPr id="10" name="TextBox 9">
            <a:extLst>
              <a:ext uri="{FF2B5EF4-FFF2-40B4-BE49-F238E27FC236}">
                <a16:creationId xmlns:a16="http://schemas.microsoft.com/office/drawing/2014/main" id="{BCDB101C-E9DC-F25A-3588-20BE8EF7AEF0}"/>
              </a:ext>
            </a:extLst>
          </p:cNvPr>
          <p:cNvSpPr txBox="1"/>
          <p:nvPr/>
        </p:nvSpPr>
        <p:spPr>
          <a:xfrm>
            <a:off x="354012" y="5717638"/>
            <a:ext cx="11774488" cy="369332"/>
          </a:xfrm>
          <a:prstGeom prst="rect">
            <a:avLst/>
          </a:prstGeom>
          <a:noFill/>
        </p:spPr>
        <p:txBody>
          <a:bodyPr wrap="square" rtlCol="0">
            <a:spAutoFit/>
          </a:bodyPr>
          <a:lstStyle/>
          <a:p>
            <a:r>
              <a:rPr lang="en-US" dirty="0">
                <a:highlight>
                  <a:srgbClr val="C0C0C0"/>
                </a:highlight>
              </a:rPr>
              <a:t>The high defect rate confirms that the current paint process is not capable of consistently producing acceptable products</a:t>
            </a:r>
          </a:p>
        </p:txBody>
      </p:sp>
    </p:spTree>
    <p:extLst>
      <p:ext uri="{BB962C8B-B14F-4D97-AF65-F5344CB8AC3E}">
        <p14:creationId xmlns:p14="http://schemas.microsoft.com/office/powerpoint/2010/main" val="1455967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8FA32-DCB1-568F-F923-D9C0C3B047EC}"/>
              </a:ext>
            </a:extLst>
          </p:cNvPr>
          <p:cNvSpPr>
            <a:spLocks noGrp="1"/>
          </p:cNvSpPr>
          <p:nvPr>
            <p:ph type="title"/>
          </p:nvPr>
        </p:nvSpPr>
        <p:spPr>
          <a:xfrm>
            <a:off x="838200" y="0"/>
            <a:ext cx="10515600" cy="1325563"/>
          </a:xfrm>
        </p:spPr>
        <p:txBody>
          <a:bodyPr/>
          <a:lstStyle/>
          <a:p>
            <a:r>
              <a:rPr lang="en-US" b="1" dirty="0"/>
              <a:t>Measure -  Paint Thickness vs Defect Types</a:t>
            </a:r>
          </a:p>
        </p:txBody>
      </p:sp>
      <p:graphicFrame>
        <p:nvGraphicFramePr>
          <p:cNvPr id="6" name="Chart 5">
            <a:extLst>
              <a:ext uri="{FF2B5EF4-FFF2-40B4-BE49-F238E27FC236}">
                <a16:creationId xmlns:a16="http://schemas.microsoft.com/office/drawing/2014/main" id="{B31699A0-3F67-BF41-A5A8-02BEB3EF63AB}"/>
              </a:ext>
            </a:extLst>
          </p:cNvPr>
          <p:cNvGraphicFramePr>
            <a:graphicFrameLocks/>
          </p:cNvGraphicFramePr>
          <p:nvPr>
            <p:extLst>
              <p:ext uri="{D42A27DB-BD31-4B8C-83A1-F6EECF244321}">
                <p14:modId xmlns:p14="http://schemas.microsoft.com/office/powerpoint/2010/main" val="2463430311"/>
              </p:ext>
            </p:extLst>
          </p:nvPr>
        </p:nvGraphicFramePr>
        <p:xfrm>
          <a:off x="1443037" y="1690688"/>
          <a:ext cx="8310563" cy="3890962"/>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11E7BD46-9779-6AAB-9DA7-3BDB157A93F9}"/>
              </a:ext>
            </a:extLst>
          </p:cNvPr>
          <p:cNvSpPr txBox="1"/>
          <p:nvPr/>
        </p:nvSpPr>
        <p:spPr>
          <a:xfrm>
            <a:off x="251208" y="6337734"/>
            <a:ext cx="1191829" cy="369332"/>
          </a:xfrm>
          <a:prstGeom prst="rect">
            <a:avLst/>
          </a:prstGeom>
          <a:noFill/>
        </p:spPr>
        <p:txBody>
          <a:bodyPr wrap="square" rtlCol="0">
            <a:spAutoFit/>
          </a:bodyPr>
          <a:lstStyle/>
          <a:p>
            <a:r>
              <a:rPr lang="en-US" b="1" dirty="0">
                <a:solidFill>
                  <a:schemeClr val="accent1"/>
                </a:solidFill>
              </a:rPr>
              <a:t>MEASURE</a:t>
            </a:r>
          </a:p>
        </p:txBody>
      </p:sp>
      <p:sp>
        <p:nvSpPr>
          <p:cNvPr id="8" name="TextBox 7">
            <a:extLst>
              <a:ext uri="{FF2B5EF4-FFF2-40B4-BE49-F238E27FC236}">
                <a16:creationId xmlns:a16="http://schemas.microsoft.com/office/drawing/2014/main" id="{E2DBB1B2-33F3-BB11-B671-2A8380D74B07}"/>
              </a:ext>
            </a:extLst>
          </p:cNvPr>
          <p:cNvSpPr txBox="1"/>
          <p:nvPr/>
        </p:nvSpPr>
        <p:spPr>
          <a:xfrm>
            <a:off x="1443036" y="5775026"/>
            <a:ext cx="8061181" cy="369332"/>
          </a:xfrm>
          <a:prstGeom prst="rect">
            <a:avLst/>
          </a:prstGeom>
          <a:noFill/>
        </p:spPr>
        <p:txBody>
          <a:bodyPr wrap="square" rtlCol="0">
            <a:spAutoFit/>
          </a:bodyPr>
          <a:lstStyle/>
          <a:p>
            <a:r>
              <a:rPr lang="en-US" dirty="0">
                <a:highlight>
                  <a:srgbClr val="C0C0C0"/>
                </a:highlight>
              </a:rPr>
              <a:t>This comparation shows defect outcomes across different paint thickness levels</a:t>
            </a:r>
          </a:p>
        </p:txBody>
      </p:sp>
    </p:spTree>
    <p:extLst>
      <p:ext uri="{BB962C8B-B14F-4D97-AF65-F5344CB8AC3E}">
        <p14:creationId xmlns:p14="http://schemas.microsoft.com/office/powerpoint/2010/main" val="2562246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6783E-101F-01EC-53E5-8530DBE41E16}"/>
              </a:ext>
            </a:extLst>
          </p:cNvPr>
          <p:cNvSpPr>
            <a:spLocks noGrp="1"/>
          </p:cNvSpPr>
          <p:nvPr>
            <p:ph type="title"/>
          </p:nvPr>
        </p:nvSpPr>
        <p:spPr>
          <a:xfrm>
            <a:off x="838200" y="23296"/>
            <a:ext cx="10515600" cy="1325563"/>
          </a:xfrm>
        </p:spPr>
        <p:txBody>
          <a:bodyPr/>
          <a:lstStyle/>
          <a:p>
            <a:r>
              <a:rPr lang="en-US" b="1" dirty="0"/>
              <a:t>Measure - Paint types vs Defect types</a:t>
            </a:r>
          </a:p>
        </p:txBody>
      </p:sp>
      <p:graphicFrame>
        <p:nvGraphicFramePr>
          <p:cNvPr id="4" name="Chart 3">
            <a:extLst>
              <a:ext uri="{FF2B5EF4-FFF2-40B4-BE49-F238E27FC236}">
                <a16:creationId xmlns:a16="http://schemas.microsoft.com/office/drawing/2014/main" id="{3FE95A85-6242-D9F9-6A31-20A36A74F335}"/>
              </a:ext>
            </a:extLst>
          </p:cNvPr>
          <p:cNvGraphicFramePr>
            <a:graphicFrameLocks/>
          </p:cNvGraphicFramePr>
          <p:nvPr>
            <p:extLst>
              <p:ext uri="{D42A27DB-BD31-4B8C-83A1-F6EECF244321}">
                <p14:modId xmlns:p14="http://schemas.microsoft.com/office/powerpoint/2010/main" val="967150068"/>
              </p:ext>
            </p:extLst>
          </p:nvPr>
        </p:nvGraphicFramePr>
        <p:xfrm>
          <a:off x="1047750" y="1485900"/>
          <a:ext cx="8705850" cy="4423833"/>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1DFA07A0-F0BD-8B33-A677-686B51EE3832}"/>
              </a:ext>
            </a:extLst>
          </p:cNvPr>
          <p:cNvSpPr txBox="1"/>
          <p:nvPr/>
        </p:nvSpPr>
        <p:spPr>
          <a:xfrm>
            <a:off x="19050" y="6465372"/>
            <a:ext cx="1191829" cy="369332"/>
          </a:xfrm>
          <a:prstGeom prst="rect">
            <a:avLst/>
          </a:prstGeom>
          <a:noFill/>
        </p:spPr>
        <p:txBody>
          <a:bodyPr wrap="square" rtlCol="0">
            <a:spAutoFit/>
          </a:bodyPr>
          <a:lstStyle/>
          <a:p>
            <a:r>
              <a:rPr lang="en-US" b="1" dirty="0">
                <a:solidFill>
                  <a:schemeClr val="accent1"/>
                </a:solidFill>
              </a:rPr>
              <a:t>MEASURE</a:t>
            </a:r>
          </a:p>
        </p:txBody>
      </p:sp>
      <p:sp>
        <p:nvSpPr>
          <p:cNvPr id="6" name="TextBox 5">
            <a:extLst>
              <a:ext uri="{FF2B5EF4-FFF2-40B4-BE49-F238E27FC236}">
                <a16:creationId xmlns:a16="http://schemas.microsoft.com/office/drawing/2014/main" id="{965AF602-90C8-71BD-1B44-B19C6610F0D6}"/>
              </a:ext>
            </a:extLst>
          </p:cNvPr>
          <p:cNvSpPr txBox="1"/>
          <p:nvPr/>
        </p:nvSpPr>
        <p:spPr>
          <a:xfrm>
            <a:off x="1879599" y="6002886"/>
            <a:ext cx="6265334" cy="369332"/>
          </a:xfrm>
          <a:prstGeom prst="rect">
            <a:avLst/>
          </a:prstGeom>
          <a:noFill/>
        </p:spPr>
        <p:txBody>
          <a:bodyPr wrap="square" rtlCol="0">
            <a:spAutoFit/>
          </a:bodyPr>
          <a:lstStyle/>
          <a:p>
            <a:r>
              <a:rPr lang="en-US" dirty="0">
                <a:highlight>
                  <a:srgbClr val="C0C0C0"/>
                </a:highlight>
              </a:rPr>
              <a:t>This summarizes defect outcomes for each paint type used</a:t>
            </a:r>
          </a:p>
        </p:txBody>
      </p:sp>
    </p:spTree>
    <p:extLst>
      <p:ext uri="{BB962C8B-B14F-4D97-AF65-F5344CB8AC3E}">
        <p14:creationId xmlns:p14="http://schemas.microsoft.com/office/powerpoint/2010/main" val="3456504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C1642-C636-A14C-7176-BC62E30D7982}"/>
              </a:ext>
            </a:extLst>
          </p:cNvPr>
          <p:cNvSpPr>
            <a:spLocks noGrp="1"/>
          </p:cNvSpPr>
          <p:nvPr>
            <p:ph type="title"/>
          </p:nvPr>
        </p:nvSpPr>
        <p:spPr>
          <a:xfrm>
            <a:off x="838200" y="75239"/>
            <a:ext cx="10515600" cy="1325563"/>
          </a:xfrm>
        </p:spPr>
        <p:txBody>
          <a:bodyPr/>
          <a:lstStyle/>
          <a:p>
            <a:r>
              <a:rPr lang="en-US" b="1" dirty="0"/>
              <a:t>Current State - Sigma Level</a:t>
            </a:r>
          </a:p>
        </p:txBody>
      </p:sp>
      <p:sp>
        <p:nvSpPr>
          <p:cNvPr id="4" name="TextBox 3">
            <a:extLst>
              <a:ext uri="{FF2B5EF4-FFF2-40B4-BE49-F238E27FC236}">
                <a16:creationId xmlns:a16="http://schemas.microsoft.com/office/drawing/2014/main" id="{FA0E368F-D97A-0D34-E0C1-66BEC2D09C3B}"/>
              </a:ext>
            </a:extLst>
          </p:cNvPr>
          <p:cNvSpPr txBox="1"/>
          <p:nvPr/>
        </p:nvSpPr>
        <p:spPr>
          <a:xfrm>
            <a:off x="251208" y="6337734"/>
            <a:ext cx="1191829" cy="369332"/>
          </a:xfrm>
          <a:prstGeom prst="rect">
            <a:avLst/>
          </a:prstGeom>
          <a:noFill/>
        </p:spPr>
        <p:txBody>
          <a:bodyPr wrap="square" rtlCol="0">
            <a:spAutoFit/>
          </a:bodyPr>
          <a:lstStyle/>
          <a:p>
            <a:r>
              <a:rPr lang="en-US" b="1" dirty="0">
                <a:solidFill>
                  <a:schemeClr val="accent1"/>
                </a:solidFill>
              </a:rPr>
              <a:t>MEASURE</a:t>
            </a:r>
          </a:p>
        </p:txBody>
      </p:sp>
      <p:graphicFrame>
        <p:nvGraphicFramePr>
          <p:cNvPr id="5" name="Table 4">
            <a:extLst>
              <a:ext uri="{FF2B5EF4-FFF2-40B4-BE49-F238E27FC236}">
                <a16:creationId xmlns:a16="http://schemas.microsoft.com/office/drawing/2014/main" id="{418AFF07-803D-50FA-5D7F-CEC18ACBF7EC}"/>
              </a:ext>
            </a:extLst>
          </p:cNvPr>
          <p:cNvGraphicFramePr>
            <a:graphicFrameLocks noGrp="1"/>
          </p:cNvGraphicFramePr>
          <p:nvPr>
            <p:extLst>
              <p:ext uri="{D42A27DB-BD31-4B8C-83A1-F6EECF244321}">
                <p14:modId xmlns:p14="http://schemas.microsoft.com/office/powerpoint/2010/main" val="3595837909"/>
              </p:ext>
            </p:extLst>
          </p:nvPr>
        </p:nvGraphicFramePr>
        <p:xfrm>
          <a:off x="838200" y="1605061"/>
          <a:ext cx="6314023" cy="3647878"/>
        </p:xfrm>
        <a:graphic>
          <a:graphicData uri="http://schemas.openxmlformats.org/drawingml/2006/table">
            <a:tbl>
              <a:tblPr firstRow="1" bandRow="1">
                <a:tableStyleId>{5C22544A-7EE6-4342-B048-85BDC9FD1C3A}</a:tableStyleId>
              </a:tblPr>
              <a:tblGrid>
                <a:gridCol w="4008973">
                  <a:extLst>
                    <a:ext uri="{9D8B030D-6E8A-4147-A177-3AD203B41FA5}">
                      <a16:colId xmlns:a16="http://schemas.microsoft.com/office/drawing/2014/main" val="4112289310"/>
                    </a:ext>
                  </a:extLst>
                </a:gridCol>
                <a:gridCol w="1085850">
                  <a:extLst>
                    <a:ext uri="{9D8B030D-6E8A-4147-A177-3AD203B41FA5}">
                      <a16:colId xmlns:a16="http://schemas.microsoft.com/office/drawing/2014/main" val="2890296915"/>
                    </a:ext>
                  </a:extLst>
                </a:gridCol>
                <a:gridCol w="1219200">
                  <a:extLst>
                    <a:ext uri="{9D8B030D-6E8A-4147-A177-3AD203B41FA5}">
                      <a16:colId xmlns:a16="http://schemas.microsoft.com/office/drawing/2014/main" val="3401459857"/>
                    </a:ext>
                  </a:extLst>
                </a:gridCol>
              </a:tblGrid>
              <a:tr h="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Discrete</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txBody>
                  <a:tcPr/>
                </a:tc>
                <a:extLst>
                  <a:ext uri="{0D108BD9-81ED-4DB2-BD59-A6C34878D82A}">
                    <a16:rowId xmlns:a16="http://schemas.microsoft.com/office/drawing/2014/main" val="480787354"/>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number of units processed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53</a:t>
                      </a:r>
                    </a:p>
                  </a:txBody>
                  <a:tcPr/>
                </a:tc>
                <a:extLst>
                  <a:ext uri="{0D108BD9-81ED-4DB2-BD59-A6C34878D82A}">
                    <a16:rowId xmlns:a16="http://schemas.microsoft.com/office/drawing/2014/main" val="201381115"/>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number of defects observed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48</a:t>
                      </a:r>
                    </a:p>
                  </a:txBody>
                  <a:tcPr/>
                </a:tc>
                <a:extLst>
                  <a:ext uri="{0D108BD9-81ED-4DB2-BD59-A6C34878D82A}">
                    <a16:rowId xmlns:a16="http://schemas.microsoft.com/office/drawing/2014/main" val="1762981516"/>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Number of defect opportunities per unit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a:t>
                      </a:r>
                    </a:p>
                  </a:txBody>
                  <a:tcPr/>
                </a:tc>
                <a:extLst>
                  <a:ext uri="{0D108BD9-81ED-4DB2-BD59-A6C34878D82A}">
                    <a16:rowId xmlns:a16="http://schemas.microsoft.com/office/drawing/2014/main" val="1419383870"/>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Defect Per Opportunity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DPO=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0.9057</a:t>
                      </a:r>
                    </a:p>
                  </a:txBody>
                  <a:tcPr/>
                </a:tc>
                <a:extLst>
                  <a:ext uri="{0D108BD9-81ED-4DB2-BD59-A6C34878D82A}">
                    <a16:rowId xmlns:a16="http://schemas.microsoft.com/office/drawing/2014/main" val="2425264692"/>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Defect Per Million Opportunity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DPMO=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905,660</a:t>
                      </a:r>
                    </a:p>
                  </a:txBody>
                  <a:tcPr/>
                </a:tc>
                <a:extLst>
                  <a:ext uri="{0D108BD9-81ED-4DB2-BD59-A6C34878D82A}">
                    <a16:rowId xmlns:a16="http://schemas.microsoft.com/office/drawing/2014/main" val="2331741743"/>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Yield rate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yield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9.4%</a:t>
                      </a:r>
                    </a:p>
                  </a:txBody>
                  <a:tcPr/>
                </a:tc>
                <a:extLst>
                  <a:ext uri="{0D108BD9-81ED-4DB2-BD59-A6C34878D82A}">
                    <a16:rowId xmlns:a16="http://schemas.microsoft.com/office/drawing/2014/main" val="1168443893"/>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Sigma Level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sigma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1.8</a:t>
                      </a:r>
                    </a:p>
                  </a:txBody>
                  <a:tcPr/>
                </a:tc>
                <a:extLst>
                  <a:ext uri="{0D108BD9-81ED-4DB2-BD59-A6C34878D82A}">
                    <a16:rowId xmlns:a16="http://schemas.microsoft.com/office/drawing/2014/main" val="38857908"/>
                  </a:ext>
                </a:extLst>
              </a:tr>
            </a:tbl>
          </a:graphicData>
        </a:graphic>
      </p:graphicFrame>
      <p:graphicFrame>
        <p:nvGraphicFramePr>
          <p:cNvPr id="9" name="Table 8">
            <a:extLst>
              <a:ext uri="{FF2B5EF4-FFF2-40B4-BE49-F238E27FC236}">
                <a16:creationId xmlns:a16="http://schemas.microsoft.com/office/drawing/2014/main" id="{DC1C74F6-5458-AE96-F28C-E6DD79D033DD}"/>
              </a:ext>
            </a:extLst>
          </p:cNvPr>
          <p:cNvGraphicFramePr>
            <a:graphicFrameLocks noGrp="1"/>
          </p:cNvGraphicFramePr>
          <p:nvPr>
            <p:extLst>
              <p:ext uri="{D42A27DB-BD31-4B8C-83A1-F6EECF244321}">
                <p14:modId xmlns:p14="http://schemas.microsoft.com/office/powerpoint/2010/main" val="1954311994"/>
              </p:ext>
            </p:extLst>
          </p:nvPr>
        </p:nvGraphicFramePr>
        <p:xfrm>
          <a:off x="7445374" y="1600299"/>
          <a:ext cx="3908426" cy="2933756"/>
        </p:xfrm>
        <a:graphic>
          <a:graphicData uri="http://schemas.openxmlformats.org/drawingml/2006/table">
            <a:tbl>
              <a:tblPr firstRow="1" bandRow="1">
                <a:tableStyleId>{5C22544A-7EE6-4342-B048-85BDC9FD1C3A}</a:tableStyleId>
              </a:tblPr>
              <a:tblGrid>
                <a:gridCol w="2947453">
                  <a:extLst>
                    <a:ext uri="{9D8B030D-6E8A-4147-A177-3AD203B41FA5}">
                      <a16:colId xmlns:a16="http://schemas.microsoft.com/office/drawing/2014/main" val="737355668"/>
                    </a:ext>
                  </a:extLst>
                </a:gridCol>
                <a:gridCol w="960973">
                  <a:extLst>
                    <a:ext uri="{9D8B030D-6E8A-4147-A177-3AD203B41FA5}">
                      <a16:colId xmlns:a16="http://schemas.microsoft.com/office/drawing/2014/main" val="3165039560"/>
                    </a:ext>
                  </a:extLst>
                </a:gridCol>
              </a:tblGrid>
              <a:tr h="597784">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Descriptive Statistics</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2298790511"/>
                  </a:ext>
                </a:extLst>
              </a:tr>
              <a:tr h="597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number of units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53</a:t>
                      </a:r>
                    </a:p>
                  </a:txBody>
                  <a:tcPr/>
                </a:tc>
                <a:extLst>
                  <a:ext uri="{0D108BD9-81ED-4DB2-BD59-A6C34878D82A}">
                    <a16:rowId xmlns:a16="http://schemas.microsoft.com/office/drawing/2014/main" val="1837455739"/>
                  </a:ext>
                </a:extLst>
              </a:tr>
              <a:tr h="597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number of defects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48</a:t>
                      </a:r>
                    </a:p>
                  </a:txBody>
                  <a:tcPr/>
                </a:tc>
                <a:extLst>
                  <a:ext uri="{0D108BD9-81ED-4DB2-BD59-A6C34878D82A}">
                    <a16:rowId xmlns:a16="http://schemas.microsoft.com/office/drawing/2014/main" val="1457575740"/>
                  </a:ext>
                </a:extLst>
              </a:tr>
              <a:tr h="597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number of non defects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a:t>
                      </a:r>
                    </a:p>
                  </a:txBody>
                  <a:tcPr/>
                </a:tc>
                <a:extLst>
                  <a:ext uri="{0D108BD9-81ED-4DB2-BD59-A6C34878D82A}">
                    <a16:rowId xmlns:a16="http://schemas.microsoft.com/office/drawing/2014/main" val="1815304865"/>
                  </a:ext>
                </a:extLst>
              </a:tr>
              <a:tr h="542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Defect rate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90.6%</a:t>
                      </a:r>
                    </a:p>
                  </a:txBody>
                  <a:tcPr/>
                </a:tc>
                <a:extLst>
                  <a:ext uri="{0D108BD9-81ED-4DB2-BD59-A6C34878D82A}">
                    <a16:rowId xmlns:a16="http://schemas.microsoft.com/office/drawing/2014/main" val="1574764601"/>
                  </a:ext>
                </a:extLst>
              </a:tr>
            </a:tbl>
          </a:graphicData>
        </a:graphic>
      </p:graphicFrame>
      <p:sp>
        <p:nvSpPr>
          <p:cNvPr id="10" name="TextBox 9">
            <a:extLst>
              <a:ext uri="{FF2B5EF4-FFF2-40B4-BE49-F238E27FC236}">
                <a16:creationId xmlns:a16="http://schemas.microsoft.com/office/drawing/2014/main" id="{2D266664-A6D2-4F18-2068-D1C6A3C802B9}"/>
              </a:ext>
            </a:extLst>
          </p:cNvPr>
          <p:cNvSpPr txBox="1"/>
          <p:nvPr/>
        </p:nvSpPr>
        <p:spPr>
          <a:xfrm>
            <a:off x="847121" y="5452436"/>
            <a:ext cx="7094612" cy="369332"/>
          </a:xfrm>
          <a:prstGeom prst="rect">
            <a:avLst/>
          </a:prstGeom>
          <a:noFill/>
        </p:spPr>
        <p:txBody>
          <a:bodyPr wrap="square" rtlCol="0">
            <a:spAutoFit/>
          </a:bodyPr>
          <a:lstStyle/>
          <a:p>
            <a:r>
              <a:rPr lang="en-US" dirty="0">
                <a:highlight>
                  <a:srgbClr val="C0C0C0"/>
                </a:highlight>
              </a:rPr>
              <a:t>The current sigma level is quite low. This indicates poor process capability.</a:t>
            </a:r>
          </a:p>
        </p:txBody>
      </p:sp>
    </p:spTree>
    <p:extLst>
      <p:ext uri="{BB962C8B-B14F-4D97-AF65-F5344CB8AC3E}">
        <p14:creationId xmlns:p14="http://schemas.microsoft.com/office/powerpoint/2010/main" val="3066323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59B0D-A07C-3447-E636-F71F5A67C480}"/>
              </a:ext>
            </a:extLst>
          </p:cNvPr>
          <p:cNvSpPr>
            <a:spLocks noGrp="1"/>
          </p:cNvSpPr>
          <p:nvPr>
            <p:ph type="title"/>
          </p:nvPr>
        </p:nvSpPr>
        <p:spPr>
          <a:xfrm>
            <a:off x="813106" y="-38605"/>
            <a:ext cx="10515600" cy="1325563"/>
          </a:xfrm>
        </p:spPr>
        <p:txBody>
          <a:bodyPr/>
          <a:lstStyle/>
          <a:p>
            <a:r>
              <a:rPr lang="en-US" b="1" dirty="0"/>
              <a:t>Current State-  Pottery Process Map </a:t>
            </a:r>
            <a:endParaRPr lang="en-US" dirty="0"/>
          </a:p>
        </p:txBody>
      </p:sp>
      <p:sp>
        <p:nvSpPr>
          <p:cNvPr id="4" name="TextBox 3">
            <a:extLst>
              <a:ext uri="{FF2B5EF4-FFF2-40B4-BE49-F238E27FC236}">
                <a16:creationId xmlns:a16="http://schemas.microsoft.com/office/drawing/2014/main" id="{92881CFC-A6D3-6C12-218C-100B97051DD8}"/>
              </a:ext>
            </a:extLst>
          </p:cNvPr>
          <p:cNvSpPr txBox="1"/>
          <p:nvPr/>
        </p:nvSpPr>
        <p:spPr>
          <a:xfrm>
            <a:off x="251208" y="6337734"/>
            <a:ext cx="1191829" cy="369332"/>
          </a:xfrm>
          <a:prstGeom prst="rect">
            <a:avLst/>
          </a:prstGeom>
          <a:noFill/>
        </p:spPr>
        <p:txBody>
          <a:bodyPr wrap="square" rtlCol="0">
            <a:spAutoFit/>
          </a:bodyPr>
          <a:lstStyle/>
          <a:p>
            <a:r>
              <a:rPr lang="en-US" b="1" dirty="0">
                <a:solidFill>
                  <a:schemeClr val="accent1"/>
                </a:solidFill>
              </a:rPr>
              <a:t>MEASURE</a:t>
            </a:r>
          </a:p>
        </p:txBody>
      </p:sp>
      <p:sp>
        <p:nvSpPr>
          <p:cNvPr id="5" name="Rectangle 4">
            <a:extLst>
              <a:ext uri="{FF2B5EF4-FFF2-40B4-BE49-F238E27FC236}">
                <a16:creationId xmlns:a16="http://schemas.microsoft.com/office/drawing/2014/main" id="{2EF41B77-1BEE-2167-925F-20BD943B3D81}"/>
              </a:ext>
            </a:extLst>
          </p:cNvPr>
          <p:cNvSpPr/>
          <p:nvPr/>
        </p:nvSpPr>
        <p:spPr>
          <a:xfrm>
            <a:off x="692105" y="1637793"/>
            <a:ext cx="820169" cy="55663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100" dirty="0"/>
              <a:t>Start</a:t>
            </a:r>
          </a:p>
        </p:txBody>
      </p:sp>
      <p:sp>
        <p:nvSpPr>
          <p:cNvPr id="6" name="Rectangle 5">
            <a:extLst>
              <a:ext uri="{FF2B5EF4-FFF2-40B4-BE49-F238E27FC236}">
                <a16:creationId xmlns:a16="http://schemas.microsoft.com/office/drawing/2014/main" id="{33FC8B77-376A-B312-55EA-869DBA461B6F}"/>
              </a:ext>
            </a:extLst>
          </p:cNvPr>
          <p:cNvSpPr/>
          <p:nvPr/>
        </p:nvSpPr>
        <p:spPr>
          <a:xfrm>
            <a:off x="1748557" y="1637793"/>
            <a:ext cx="1133675" cy="55819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100" dirty="0"/>
              <a:t>Mix liquid clay</a:t>
            </a:r>
          </a:p>
        </p:txBody>
      </p:sp>
      <p:sp>
        <p:nvSpPr>
          <p:cNvPr id="7" name="Rectangle 6">
            <a:extLst>
              <a:ext uri="{FF2B5EF4-FFF2-40B4-BE49-F238E27FC236}">
                <a16:creationId xmlns:a16="http://schemas.microsoft.com/office/drawing/2014/main" id="{D48C276A-AD17-C17F-551A-CD9CF70A58A9}"/>
              </a:ext>
            </a:extLst>
          </p:cNvPr>
          <p:cNvSpPr/>
          <p:nvPr/>
        </p:nvSpPr>
        <p:spPr>
          <a:xfrm>
            <a:off x="3205787" y="1630962"/>
            <a:ext cx="1546532" cy="56502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100" dirty="0"/>
              <a:t>Pour liquid clay into mold</a:t>
            </a:r>
          </a:p>
        </p:txBody>
      </p:sp>
      <p:sp>
        <p:nvSpPr>
          <p:cNvPr id="8" name="Rectangle 7">
            <a:extLst>
              <a:ext uri="{FF2B5EF4-FFF2-40B4-BE49-F238E27FC236}">
                <a16:creationId xmlns:a16="http://schemas.microsoft.com/office/drawing/2014/main" id="{C0A74875-A269-2853-214C-8DAE39CC94DC}"/>
              </a:ext>
            </a:extLst>
          </p:cNvPr>
          <p:cNvSpPr/>
          <p:nvPr/>
        </p:nvSpPr>
        <p:spPr>
          <a:xfrm>
            <a:off x="5014423" y="1634489"/>
            <a:ext cx="1369958" cy="565021"/>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100" dirty="0"/>
              <a:t>Wait until desired thickness occurs</a:t>
            </a:r>
          </a:p>
        </p:txBody>
      </p:sp>
      <p:sp>
        <p:nvSpPr>
          <p:cNvPr id="9" name="Rectangle 8">
            <a:extLst>
              <a:ext uri="{FF2B5EF4-FFF2-40B4-BE49-F238E27FC236}">
                <a16:creationId xmlns:a16="http://schemas.microsoft.com/office/drawing/2014/main" id="{3D09B66D-C919-AD1D-2442-A835AF877B34}"/>
              </a:ext>
            </a:extLst>
          </p:cNvPr>
          <p:cNvSpPr/>
          <p:nvPr/>
        </p:nvSpPr>
        <p:spPr>
          <a:xfrm>
            <a:off x="6732283" y="1637793"/>
            <a:ext cx="1079653" cy="57287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100" dirty="0"/>
              <a:t>Pour out liquid clay to stop drying</a:t>
            </a:r>
          </a:p>
        </p:txBody>
      </p:sp>
      <p:sp>
        <p:nvSpPr>
          <p:cNvPr id="10" name="Rectangle 9">
            <a:extLst>
              <a:ext uri="{FF2B5EF4-FFF2-40B4-BE49-F238E27FC236}">
                <a16:creationId xmlns:a16="http://schemas.microsoft.com/office/drawing/2014/main" id="{92A2B53D-3E1B-97B3-C997-950559F2C330}"/>
              </a:ext>
            </a:extLst>
          </p:cNvPr>
          <p:cNvSpPr/>
          <p:nvPr/>
        </p:nvSpPr>
        <p:spPr>
          <a:xfrm>
            <a:off x="1701301" y="3173350"/>
            <a:ext cx="1052874" cy="57287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100" dirty="0"/>
              <a:t>Wait until pottery dries</a:t>
            </a:r>
          </a:p>
        </p:txBody>
      </p:sp>
      <p:sp>
        <p:nvSpPr>
          <p:cNvPr id="11" name="Rectangle 10">
            <a:extLst>
              <a:ext uri="{FF2B5EF4-FFF2-40B4-BE49-F238E27FC236}">
                <a16:creationId xmlns:a16="http://schemas.microsoft.com/office/drawing/2014/main" id="{0DFA9F02-EB5B-D631-4C55-982DD2EFD3EC}"/>
              </a:ext>
            </a:extLst>
          </p:cNvPr>
          <p:cNvSpPr/>
          <p:nvPr/>
        </p:nvSpPr>
        <p:spPr>
          <a:xfrm>
            <a:off x="174312" y="4724851"/>
            <a:ext cx="1035586" cy="57287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100" dirty="0"/>
              <a:t>Apply paint</a:t>
            </a:r>
          </a:p>
        </p:txBody>
      </p:sp>
      <p:sp>
        <p:nvSpPr>
          <p:cNvPr id="12" name="Rectangle 11">
            <a:extLst>
              <a:ext uri="{FF2B5EF4-FFF2-40B4-BE49-F238E27FC236}">
                <a16:creationId xmlns:a16="http://schemas.microsoft.com/office/drawing/2014/main" id="{62C34220-C28E-3B5A-3CF2-BDA285319477}"/>
              </a:ext>
            </a:extLst>
          </p:cNvPr>
          <p:cNvSpPr/>
          <p:nvPr/>
        </p:nvSpPr>
        <p:spPr>
          <a:xfrm>
            <a:off x="1445147" y="4713834"/>
            <a:ext cx="1079653" cy="59491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100" dirty="0"/>
              <a:t>Allow paint to dry</a:t>
            </a:r>
          </a:p>
        </p:txBody>
      </p:sp>
      <p:sp>
        <p:nvSpPr>
          <p:cNvPr id="13" name="Rectangle 12">
            <a:extLst>
              <a:ext uri="{FF2B5EF4-FFF2-40B4-BE49-F238E27FC236}">
                <a16:creationId xmlns:a16="http://schemas.microsoft.com/office/drawing/2014/main" id="{B0243772-472B-C768-8DA3-097A9416A0BA}"/>
              </a:ext>
            </a:extLst>
          </p:cNvPr>
          <p:cNvSpPr/>
          <p:nvPr/>
        </p:nvSpPr>
        <p:spPr>
          <a:xfrm>
            <a:off x="2748956" y="4720424"/>
            <a:ext cx="1067843" cy="56555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100" dirty="0"/>
              <a:t>Load &amp; Fire kiln:</a:t>
            </a:r>
          </a:p>
          <a:p>
            <a:pPr algn="ctr"/>
            <a:r>
              <a:rPr lang="en-US" sz="1100" dirty="0"/>
              <a:t> First fire</a:t>
            </a:r>
          </a:p>
        </p:txBody>
      </p:sp>
      <p:sp>
        <p:nvSpPr>
          <p:cNvPr id="14" name="Rectangle 13">
            <a:extLst>
              <a:ext uri="{FF2B5EF4-FFF2-40B4-BE49-F238E27FC236}">
                <a16:creationId xmlns:a16="http://schemas.microsoft.com/office/drawing/2014/main" id="{CE1DE08B-393C-1CF9-84F1-775B39CEE5BF}"/>
              </a:ext>
            </a:extLst>
          </p:cNvPr>
          <p:cNvSpPr/>
          <p:nvPr/>
        </p:nvSpPr>
        <p:spPr>
          <a:xfrm>
            <a:off x="8282840" y="4705108"/>
            <a:ext cx="1129193" cy="55430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100" dirty="0"/>
              <a:t>Inspect for paint defects</a:t>
            </a:r>
          </a:p>
        </p:txBody>
      </p:sp>
      <p:sp>
        <p:nvSpPr>
          <p:cNvPr id="15" name="Rectangle 14">
            <a:extLst>
              <a:ext uri="{FF2B5EF4-FFF2-40B4-BE49-F238E27FC236}">
                <a16:creationId xmlns:a16="http://schemas.microsoft.com/office/drawing/2014/main" id="{2164FF85-A38B-B86B-276F-A1BFCF06F3D1}"/>
              </a:ext>
            </a:extLst>
          </p:cNvPr>
          <p:cNvSpPr/>
          <p:nvPr/>
        </p:nvSpPr>
        <p:spPr>
          <a:xfrm>
            <a:off x="3209295" y="3175230"/>
            <a:ext cx="802393" cy="56911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Sanding pottery</a:t>
            </a:r>
          </a:p>
        </p:txBody>
      </p:sp>
      <p:sp>
        <p:nvSpPr>
          <p:cNvPr id="16" name="Rectangle 15">
            <a:extLst>
              <a:ext uri="{FF2B5EF4-FFF2-40B4-BE49-F238E27FC236}">
                <a16:creationId xmlns:a16="http://schemas.microsoft.com/office/drawing/2014/main" id="{6FB2B299-676D-3795-692E-EE6C1753A802}"/>
              </a:ext>
            </a:extLst>
          </p:cNvPr>
          <p:cNvSpPr/>
          <p:nvPr/>
        </p:nvSpPr>
        <p:spPr>
          <a:xfrm>
            <a:off x="4983288" y="4705108"/>
            <a:ext cx="968962" cy="603636"/>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100" dirty="0"/>
              <a:t>Apply </a:t>
            </a:r>
          </a:p>
          <a:p>
            <a:pPr algn="ctr"/>
            <a:r>
              <a:rPr lang="en-US" sz="1100" dirty="0"/>
              <a:t>Glaze </a:t>
            </a:r>
          </a:p>
        </p:txBody>
      </p:sp>
      <p:sp>
        <p:nvSpPr>
          <p:cNvPr id="17" name="Rectangle 16">
            <a:extLst>
              <a:ext uri="{FF2B5EF4-FFF2-40B4-BE49-F238E27FC236}">
                <a16:creationId xmlns:a16="http://schemas.microsoft.com/office/drawing/2014/main" id="{60517B20-D3DC-F404-011D-CFBB7094D012}"/>
              </a:ext>
            </a:extLst>
          </p:cNvPr>
          <p:cNvSpPr/>
          <p:nvPr/>
        </p:nvSpPr>
        <p:spPr>
          <a:xfrm>
            <a:off x="6175953" y="4705108"/>
            <a:ext cx="848299" cy="572876"/>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100" dirty="0"/>
              <a:t>Load &amp; Fire kiln: Second fire</a:t>
            </a:r>
          </a:p>
        </p:txBody>
      </p:sp>
      <p:sp>
        <p:nvSpPr>
          <p:cNvPr id="18" name="Rectangle 17">
            <a:extLst>
              <a:ext uri="{FF2B5EF4-FFF2-40B4-BE49-F238E27FC236}">
                <a16:creationId xmlns:a16="http://schemas.microsoft.com/office/drawing/2014/main" id="{4067275D-D286-2B5A-3823-2BBFB496A6E9}"/>
              </a:ext>
            </a:extLst>
          </p:cNvPr>
          <p:cNvSpPr/>
          <p:nvPr/>
        </p:nvSpPr>
        <p:spPr>
          <a:xfrm>
            <a:off x="7272109" y="4714392"/>
            <a:ext cx="776046" cy="554308"/>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100" dirty="0"/>
              <a:t>Cool </a:t>
            </a:r>
          </a:p>
          <a:p>
            <a:pPr algn="ctr"/>
            <a:r>
              <a:rPr lang="en-US" sz="1100" dirty="0"/>
              <a:t>pottery</a:t>
            </a:r>
          </a:p>
        </p:txBody>
      </p:sp>
      <p:sp>
        <p:nvSpPr>
          <p:cNvPr id="23" name="Decision 22">
            <a:extLst>
              <a:ext uri="{FF2B5EF4-FFF2-40B4-BE49-F238E27FC236}">
                <a16:creationId xmlns:a16="http://schemas.microsoft.com/office/drawing/2014/main" id="{FEA83E50-EC62-3DBA-9327-611C8E426F1D}"/>
              </a:ext>
            </a:extLst>
          </p:cNvPr>
          <p:cNvSpPr/>
          <p:nvPr/>
        </p:nvSpPr>
        <p:spPr>
          <a:xfrm>
            <a:off x="9629642" y="4566002"/>
            <a:ext cx="1090669" cy="837282"/>
          </a:xfrm>
          <a:prstGeom prst="flowChartDecisio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100" dirty="0"/>
              <a:t>Pass</a:t>
            </a:r>
          </a:p>
        </p:txBody>
      </p:sp>
      <p:sp>
        <p:nvSpPr>
          <p:cNvPr id="30" name="Decision 29">
            <a:extLst>
              <a:ext uri="{FF2B5EF4-FFF2-40B4-BE49-F238E27FC236}">
                <a16:creationId xmlns:a16="http://schemas.microsoft.com/office/drawing/2014/main" id="{9F00971F-E588-A7BB-B4BF-113181C282CC}"/>
              </a:ext>
            </a:extLst>
          </p:cNvPr>
          <p:cNvSpPr/>
          <p:nvPr/>
        </p:nvSpPr>
        <p:spPr>
          <a:xfrm>
            <a:off x="8334406" y="1461200"/>
            <a:ext cx="1478002" cy="921103"/>
          </a:xfrm>
          <a:prstGeom prst="flowChartDecisio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100" dirty="0"/>
              <a:t>Right Thickness</a:t>
            </a:r>
          </a:p>
        </p:txBody>
      </p:sp>
      <p:sp>
        <p:nvSpPr>
          <p:cNvPr id="33" name="Decision 32">
            <a:extLst>
              <a:ext uri="{FF2B5EF4-FFF2-40B4-BE49-F238E27FC236}">
                <a16:creationId xmlns:a16="http://schemas.microsoft.com/office/drawing/2014/main" id="{00203520-F924-B18B-0A6D-086BFF163DA1}"/>
              </a:ext>
            </a:extLst>
          </p:cNvPr>
          <p:cNvSpPr/>
          <p:nvPr/>
        </p:nvSpPr>
        <p:spPr>
          <a:xfrm>
            <a:off x="4606962" y="3001727"/>
            <a:ext cx="1266940" cy="919288"/>
          </a:xfrm>
          <a:prstGeom prst="flowChartDecisio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100" dirty="0"/>
              <a:t>During sanding pottery broke</a:t>
            </a:r>
          </a:p>
        </p:txBody>
      </p:sp>
      <p:sp>
        <p:nvSpPr>
          <p:cNvPr id="36" name="Rectangle 35">
            <a:extLst>
              <a:ext uri="{FF2B5EF4-FFF2-40B4-BE49-F238E27FC236}">
                <a16:creationId xmlns:a16="http://schemas.microsoft.com/office/drawing/2014/main" id="{3D3CCEF7-FC92-156D-6F6A-9F66DC552EB6}"/>
              </a:ext>
            </a:extLst>
          </p:cNvPr>
          <p:cNvSpPr/>
          <p:nvPr/>
        </p:nvSpPr>
        <p:spPr>
          <a:xfrm>
            <a:off x="10606493" y="3173201"/>
            <a:ext cx="1266940" cy="59491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100" dirty="0"/>
              <a:t>Recycle or Trash </a:t>
            </a:r>
          </a:p>
        </p:txBody>
      </p:sp>
      <p:sp>
        <p:nvSpPr>
          <p:cNvPr id="37" name="Rectangle 36">
            <a:extLst>
              <a:ext uri="{FF2B5EF4-FFF2-40B4-BE49-F238E27FC236}">
                <a16:creationId xmlns:a16="http://schemas.microsoft.com/office/drawing/2014/main" id="{967DFA10-4567-4044-9988-50F7A7A55478}"/>
              </a:ext>
            </a:extLst>
          </p:cNvPr>
          <p:cNvSpPr/>
          <p:nvPr/>
        </p:nvSpPr>
        <p:spPr>
          <a:xfrm>
            <a:off x="10456854" y="5651246"/>
            <a:ext cx="1408262" cy="48718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100" dirty="0"/>
              <a:t>Sell Product</a:t>
            </a:r>
          </a:p>
        </p:txBody>
      </p:sp>
      <p:cxnSp>
        <p:nvCxnSpPr>
          <p:cNvPr id="63" name="Straight Arrow Connector 62">
            <a:extLst>
              <a:ext uri="{FF2B5EF4-FFF2-40B4-BE49-F238E27FC236}">
                <a16:creationId xmlns:a16="http://schemas.microsoft.com/office/drawing/2014/main" id="{685B3646-30EC-869F-C89A-FC68E49CDD6E}"/>
              </a:ext>
            </a:extLst>
          </p:cNvPr>
          <p:cNvCxnSpPr>
            <a:cxnSpLocks/>
            <a:stCxn id="5" idx="3"/>
            <a:endCxn id="6" idx="1"/>
          </p:cNvCxnSpPr>
          <p:nvPr/>
        </p:nvCxnSpPr>
        <p:spPr>
          <a:xfrm>
            <a:off x="1512274" y="1916111"/>
            <a:ext cx="236283" cy="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4544356A-E513-F8EC-98D7-09786D937F12}"/>
              </a:ext>
            </a:extLst>
          </p:cNvPr>
          <p:cNvCxnSpPr>
            <a:cxnSpLocks/>
            <a:stCxn id="6" idx="3"/>
            <a:endCxn id="7" idx="1"/>
          </p:cNvCxnSpPr>
          <p:nvPr/>
        </p:nvCxnSpPr>
        <p:spPr>
          <a:xfrm flipV="1">
            <a:off x="2882232" y="1913473"/>
            <a:ext cx="323555" cy="3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1D8EB6F0-0458-D2F4-505F-38BEEA62FE2E}"/>
              </a:ext>
            </a:extLst>
          </p:cNvPr>
          <p:cNvCxnSpPr>
            <a:cxnSpLocks/>
            <a:stCxn id="7" idx="3"/>
            <a:endCxn id="8" idx="1"/>
          </p:cNvCxnSpPr>
          <p:nvPr/>
        </p:nvCxnSpPr>
        <p:spPr>
          <a:xfrm>
            <a:off x="4752319" y="1913473"/>
            <a:ext cx="262104" cy="35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5FFE9D6C-18F1-0BFC-7F77-22487368F7F9}"/>
              </a:ext>
            </a:extLst>
          </p:cNvPr>
          <p:cNvCxnSpPr>
            <a:cxnSpLocks/>
            <a:stCxn id="8" idx="3"/>
            <a:endCxn id="9" idx="1"/>
          </p:cNvCxnSpPr>
          <p:nvPr/>
        </p:nvCxnSpPr>
        <p:spPr>
          <a:xfrm>
            <a:off x="6384381" y="1917000"/>
            <a:ext cx="347902" cy="7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C9FEE882-A600-9AB6-DED4-79A868F5D337}"/>
              </a:ext>
            </a:extLst>
          </p:cNvPr>
          <p:cNvCxnSpPr>
            <a:cxnSpLocks/>
            <a:stCxn id="9" idx="3"/>
            <a:endCxn id="30" idx="1"/>
          </p:cNvCxnSpPr>
          <p:nvPr/>
        </p:nvCxnSpPr>
        <p:spPr>
          <a:xfrm flipV="1">
            <a:off x="7811936" y="1921752"/>
            <a:ext cx="522470" cy="2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Elbow Connector 80">
            <a:extLst>
              <a:ext uri="{FF2B5EF4-FFF2-40B4-BE49-F238E27FC236}">
                <a16:creationId xmlns:a16="http://schemas.microsoft.com/office/drawing/2014/main" id="{9E2BD549-396D-1ACB-F716-356C9C95839D}"/>
              </a:ext>
            </a:extLst>
          </p:cNvPr>
          <p:cNvCxnSpPr>
            <a:cxnSpLocks/>
            <a:stCxn id="30" idx="2"/>
            <a:endCxn id="237" idx="0"/>
          </p:cNvCxnSpPr>
          <p:nvPr/>
        </p:nvCxnSpPr>
        <p:spPr>
          <a:xfrm rot="5400000">
            <a:off x="4523445" y="-1376761"/>
            <a:ext cx="790898" cy="830902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Elbow Connector 84">
            <a:extLst>
              <a:ext uri="{FF2B5EF4-FFF2-40B4-BE49-F238E27FC236}">
                <a16:creationId xmlns:a16="http://schemas.microsoft.com/office/drawing/2014/main" id="{B8D9C418-33A5-0E7B-AC1F-8D197D994E38}"/>
              </a:ext>
            </a:extLst>
          </p:cNvPr>
          <p:cNvCxnSpPr>
            <a:cxnSpLocks/>
            <a:stCxn id="30" idx="3"/>
            <a:endCxn id="36" idx="0"/>
          </p:cNvCxnSpPr>
          <p:nvPr/>
        </p:nvCxnSpPr>
        <p:spPr>
          <a:xfrm>
            <a:off x="9812408" y="1921752"/>
            <a:ext cx="1427555" cy="125144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0B76285E-19D6-520E-83C5-54FCEC1D977C}"/>
              </a:ext>
            </a:extLst>
          </p:cNvPr>
          <p:cNvCxnSpPr>
            <a:cxnSpLocks/>
            <a:stCxn id="10" idx="3"/>
            <a:endCxn id="15" idx="1"/>
          </p:cNvCxnSpPr>
          <p:nvPr/>
        </p:nvCxnSpPr>
        <p:spPr>
          <a:xfrm>
            <a:off x="2754175" y="3459789"/>
            <a:ext cx="4551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66703FA4-AB56-E859-D785-67F5FC63ACEA}"/>
              </a:ext>
            </a:extLst>
          </p:cNvPr>
          <p:cNvCxnSpPr>
            <a:cxnSpLocks/>
            <a:stCxn id="15" idx="3"/>
            <a:endCxn id="33" idx="1"/>
          </p:cNvCxnSpPr>
          <p:nvPr/>
        </p:nvCxnSpPr>
        <p:spPr>
          <a:xfrm>
            <a:off x="4011688" y="3459789"/>
            <a:ext cx="595274" cy="15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1C344FD5-EA1E-F56A-C9D9-5C65263DB753}"/>
              </a:ext>
            </a:extLst>
          </p:cNvPr>
          <p:cNvCxnSpPr>
            <a:cxnSpLocks/>
            <a:stCxn id="11" idx="3"/>
            <a:endCxn id="12" idx="1"/>
          </p:cNvCxnSpPr>
          <p:nvPr/>
        </p:nvCxnSpPr>
        <p:spPr>
          <a:xfrm flipV="1">
            <a:off x="1209898" y="5011289"/>
            <a:ext cx="23524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Elbow Connector 99">
            <a:extLst>
              <a:ext uri="{FF2B5EF4-FFF2-40B4-BE49-F238E27FC236}">
                <a16:creationId xmlns:a16="http://schemas.microsoft.com/office/drawing/2014/main" id="{A5D94926-D856-A549-FA2F-0D70D5A09954}"/>
              </a:ext>
            </a:extLst>
          </p:cNvPr>
          <p:cNvCxnSpPr>
            <a:cxnSpLocks/>
            <a:stCxn id="33" idx="2"/>
            <a:endCxn id="11" idx="0"/>
          </p:cNvCxnSpPr>
          <p:nvPr/>
        </p:nvCxnSpPr>
        <p:spPr>
          <a:xfrm rot="5400000">
            <a:off x="2564351" y="2048770"/>
            <a:ext cx="803836" cy="454832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Elbow Connector 109">
            <a:extLst>
              <a:ext uri="{FF2B5EF4-FFF2-40B4-BE49-F238E27FC236}">
                <a16:creationId xmlns:a16="http://schemas.microsoft.com/office/drawing/2014/main" id="{CB313197-1E5A-C69A-151C-03C07873B476}"/>
              </a:ext>
            </a:extLst>
          </p:cNvPr>
          <p:cNvCxnSpPr>
            <a:cxnSpLocks/>
            <a:stCxn id="33" idx="3"/>
            <a:endCxn id="36" idx="1"/>
          </p:cNvCxnSpPr>
          <p:nvPr/>
        </p:nvCxnSpPr>
        <p:spPr>
          <a:xfrm>
            <a:off x="5873902" y="3461371"/>
            <a:ext cx="4732591" cy="928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C734C64F-97DE-C2B7-6469-EA83AF19F668}"/>
              </a:ext>
            </a:extLst>
          </p:cNvPr>
          <p:cNvCxnSpPr>
            <a:cxnSpLocks/>
            <a:stCxn id="12" idx="3"/>
            <a:endCxn id="13" idx="1"/>
          </p:cNvCxnSpPr>
          <p:nvPr/>
        </p:nvCxnSpPr>
        <p:spPr>
          <a:xfrm flipV="1">
            <a:off x="2524800" y="5003200"/>
            <a:ext cx="224156" cy="80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E6F5B6A5-638D-4F17-20CE-C322CBC748BE}"/>
              </a:ext>
            </a:extLst>
          </p:cNvPr>
          <p:cNvCxnSpPr>
            <a:cxnSpLocks/>
            <a:stCxn id="16" idx="3"/>
            <a:endCxn id="17" idx="1"/>
          </p:cNvCxnSpPr>
          <p:nvPr/>
        </p:nvCxnSpPr>
        <p:spPr>
          <a:xfrm flipV="1">
            <a:off x="5952250" y="4991546"/>
            <a:ext cx="223703" cy="15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A2BBF23C-2193-F105-6E61-F0E7FAC677CF}"/>
              </a:ext>
            </a:extLst>
          </p:cNvPr>
          <p:cNvCxnSpPr>
            <a:cxnSpLocks/>
            <a:stCxn id="17" idx="3"/>
            <a:endCxn id="18" idx="1"/>
          </p:cNvCxnSpPr>
          <p:nvPr/>
        </p:nvCxnSpPr>
        <p:spPr>
          <a:xfrm>
            <a:off x="7024252" y="4991546"/>
            <a:ext cx="2478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26D781EE-F96F-88B6-12EB-E24D1C815BAF}"/>
              </a:ext>
            </a:extLst>
          </p:cNvPr>
          <p:cNvCxnSpPr>
            <a:cxnSpLocks/>
            <a:stCxn id="18" idx="3"/>
            <a:endCxn id="14" idx="1"/>
          </p:cNvCxnSpPr>
          <p:nvPr/>
        </p:nvCxnSpPr>
        <p:spPr>
          <a:xfrm flipV="1">
            <a:off x="8048155" y="4982262"/>
            <a:ext cx="234685" cy="92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A894493F-8042-DFF7-5287-0133C93D569C}"/>
              </a:ext>
            </a:extLst>
          </p:cNvPr>
          <p:cNvCxnSpPr>
            <a:cxnSpLocks/>
            <a:stCxn id="14" idx="3"/>
            <a:endCxn id="23" idx="1"/>
          </p:cNvCxnSpPr>
          <p:nvPr/>
        </p:nvCxnSpPr>
        <p:spPr>
          <a:xfrm>
            <a:off x="9412033" y="4982262"/>
            <a:ext cx="217609" cy="2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7" name="Elbow Connector 136">
            <a:extLst>
              <a:ext uri="{FF2B5EF4-FFF2-40B4-BE49-F238E27FC236}">
                <a16:creationId xmlns:a16="http://schemas.microsoft.com/office/drawing/2014/main" id="{C0DAAFE9-77D0-8FAC-0B52-84D0A38D206C}"/>
              </a:ext>
            </a:extLst>
          </p:cNvPr>
          <p:cNvCxnSpPr>
            <a:cxnSpLocks/>
            <a:stCxn id="23" idx="3"/>
            <a:endCxn id="37" idx="0"/>
          </p:cNvCxnSpPr>
          <p:nvPr/>
        </p:nvCxnSpPr>
        <p:spPr>
          <a:xfrm>
            <a:off x="10720311" y="4984643"/>
            <a:ext cx="440674" cy="66660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F7980D2C-C8F3-D4F3-9CFF-FEFD5CB6D722}"/>
              </a:ext>
            </a:extLst>
          </p:cNvPr>
          <p:cNvSpPr txBox="1"/>
          <p:nvPr/>
        </p:nvSpPr>
        <p:spPr>
          <a:xfrm>
            <a:off x="5648797" y="2591557"/>
            <a:ext cx="1123541" cy="369332"/>
          </a:xfrm>
          <a:prstGeom prst="rect">
            <a:avLst/>
          </a:prstGeom>
          <a:noFill/>
        </p:spPr>
        <p:txBody>
          <a:bodyPr wrap="square" rtlCol="0">
            <a:spAutoFit/>
          </a:bodyPr>
          <a:lstStyle/>
          <a:p>
            <a:r>
              <a:rPr lang="en-US" dirty="0"/>
              <a:t>yes</a:t>
            </a:r>
          </a:p>
        </p:txBody>
      </p:sp>
      <p:sp>
        <p:nvSpPr>
          <p:cNvPr id="140" name="TextBox 139">
            <a:extLst>
              <a:ext uri="{FF2B5EF4-FFF2-40B4-BE49-F238E27FC236}">
                <a16:creationId xmlns:a16="http://schemas.microsoft.com/office/drawing/2014/main" id="{3EB5C8D9-41C4-CA1D-F52D-6B538F8CF833}"/>
              </a:ext>
            </a:extLst>
          </p:cNvPr>
          <p:cNvSpPr txBox="1"/>
          <p:nvPr/>
        </p:nvSpPr>
        <p:spPr>
          <a:xfrm>
            <a:off x="10274801" y="1704664"/>
            <a:ext cx="487068" cy="369332"/>
          </a:xfrm>
          <a:prstGeom prst="rect">
            <a:avLst/>
          </a:prstGeom>
          <a:noFill/>
        </p:spPr>
        <p:txBody>
          <a:bodyPr wrap="square" rtlCol="0">
            <a:spAutoFit/>
          </a:bodyPr>
          <a:lstStyle/>
          <a:p>
            <a:r>
              <a:rPr lang="en-US" dirty="0"/>
              <a:t>no</a:t>
            </a:r>
          </a:p>
        </p:txBody>
      </p:sp>
      <p:sp>
        <p:nvSpPr>
          <p:cNvPr id="142" name="TextBox 141">
            <a:extLst>
              <a:ext uri="{FF2B5EF4-FFF2-40B4-BE49-F238E27FC236}">
                <a16:creationId xmlns:a16="http://schemas.microsoft.com/office/drawing/2014/main" id="{098C84E2-320C-2C63-7702-0CC226F01FC1}"/>
              </a:ext>
            </a:extLst>
          </p:cNvPr>
          <p:cNvSpPr txBox="1"/>
          <p:nvPr/>
        </p:nvSpPr>
        <p:spPr>
          <a:xfrm>
            <a:off x="7949866" y="3258422"/>
            <a:ext cx="1123541" cy="369332"/>
          </a:xfrm>
          <a:prstGeom prst="rect">
            <a:avLst/>
          </a:prstGeom>
          <a:noFill/>
        </p:spPr>
        <p:txBody>
          <a:bodyPr wrap="square" rtlCol="0">
            <a:spAutoFit/>
          </a:bodyPr>
          <a:lstStyle/>
          <a:p>
            <a:r>
              <a:rPr lang="en-US" dirty="0"/>
              <a:t>yes</a:t>
            </a:r>
          </a:p>
        </p:txBody>
      </p:sp>
      <p:sp>
        <p:nvSpPr>
          <p:cNvPr id="143" name="TextBox 142">
            <a:extLst>
              <a:ext uri="{FF2B5EF4-FFF2-40B4-BE49-F238E27FC236}">
                <a16:creationId xmlns:a16="http://schemas.microsoft.com/office/drawing/2014/main" id="{5D981901-7A6A-222B-8639-23C69D6BE1F4}"/>
              </a:ext>
            </a:extLst>
          </p:cNvPr>
          <p:cNvSpPr txBox="1"/>
          <p:nvPr/>
        </p:nvSpPr>
        <p:spPr>
          <a:xfrm>
            <a:off x="10951280" y="5027990"/>
            <a:ext cx="1123541" cy="369332"/>
          </a:xfrm>
          <a:prstGeom prst="rect">
            <a:avLst/>
          </a:prstGeom>
          <a:noFill/>
        </p:spPr>
        <p:txBody>
          <a:bodyPr wrap="square" rtlCol="0">
            <a:spAutoFit/>
          </a:bodyPr>
          <a:lstStyle/>
          <a:p>
            <a:r>
              <a:rPr lang="en-US" dirty="0"/>
              <a:t>yes</a:t>
            </a:r>
          </a:p>
        </p:txBody>
      </p:sp>
      <p:sp>
        <p:nvSpPr>
          <p:cNvPr id="144" name="TextBox 143">
            <a:extLst>
              <a:ext uri="{FF2B5EF4-FFF2-40B4-BE49-F238E27FC236}">
                <a16:creationId xmlns:a16="http://schemas.microsoft.com/office/drawing/2014/main" id="{D8461D6C-E276-4D9B-C68A-9B04F64536FF}"/>
              </a:ext>
            </a:extLst>
          </p:cNvPr>
          <p:cNvSpPr txBox="1"/>
          <p:nvPr/>
        </p:nvSpPr>
        <p:spPr>
          <a:xfrm>
            <a:off x="10593851" y="3948114"/>
            <a:ext cx="487068" cy="369332"/>
          </a:xfrm>
          <a:prstGeom prst="rect">
            <a:avLst/>
          </a:prstGeom>
          <a:noFill/>
        </p:spPr>
        <p:txBody>
          <a:bodyPr wrap="square" rtlCol="0">
            <a:spAutoFit/>
          </a:bodyPr>
          <a:lstStyle/>
          <a:p>
            <a:r>
              <a:rPr lang="en-US" dirty="0"/>
              <a:t>no</a:t>
            </a:r>
          </a:p>
        </p:txBody>
      </p:sp>
      <p:sp>
        <p:nvSpPr>
          <p:cNvPr id="145" name="TextBox 144">
            <a:extLst>
              <a:ext uri="{FF2B5EF4-FFF2-40B4-BE49-F238E27FC236}">
                <a16:creationId xmlns:a16="http://schemas.microsoft.com/office/drawing/2014/main" id="{9B373641-055B-78A3-B96E-2DE824D9DACD}"/>
              </a:ext>
            </a:extLst>
          </p:cNvPr>
          <p:cNvSpPr txBox="1"/>
          <p:nvPr/>
        </p:nvSpPr>
        <p:spPr>
          <a:xfrm>
            <a:off x="2966269" y="4132780"/>
            <a:ext cx="487068" cy="369332"/>
          </a:xfrm>
          <a:prstGeom prst="rect">
            <a:avLst/>
          </a:prstGeom>
          <a:noFill/>
        </p:spPr>
        <p:txBody>
          <a:bodyPr wrap="square" rtlCol="0">
            <a:spAutoFit/>
          </a:bodyPr>
          <a:lstStyle/>
          <a:p>
            <a:r>
              <a:rPr lang="en-US" dirty="0"/>
              <a:t>no</a:t>
            </a:r>
          </a:p>
        </p:txBody>
      </p:sp>
      <p:cxnSp>
        <p:nvCxnSpPr>
          <p:cNvPr id="192" name="Elbow Connector 191">
            <a:extLst>
              <a:ext uri="{FF2B5EF4-FFF2-40B4-BE49-F238E27FC236}">
                <a16:creationId xmlns:a16="http://schemas.microsoft.com/office/drawing/2014/main" id="{CB336691-01CD-16D2-A265-6859FA4B9250}"/>
              </a:ext>
            </a:extLst>
          </p:cNvPr>
          <p:cNvCxnSpPr>
            <a:cxnSpLocks/>
            <a:stCxn id="23" idx="0"/>
            <a:endCxn id="36" idx="2"/>
          </p:cNvCxnSpPr>
          <p:nvPr/>
        </p:nvCxnSpPr>
        <p:spPr>
          <a:xfrm rot="5400000" flipH="1" flipV="1">
            <a:off x="10308525" y="3634564"/>
            <a:ext cx="797891" cy="106498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01" name="Rectangle 200">
            <a:extLst>
              <a:ext uri="{FF2B5EF4-FFF2-40B4-BE49-F238E27FC236}">
                <a16:creationId xmlns:a16="http://schemas.microsoft.com/office/drawing/2014/main" id="{FDA3DE71-182F-580F-B258-C9C9157A4129}"/>
              </a:ext>
            </a:extLst>
          </p:cNvPr>
          <p:cNvSpPr/>
          <p:nvPr/>
        </p:nvSpPr>
        <p:spPr>
          <a:xfrm>
            <a:off x="3955331" y="4713834"/>
            <a:ext cx="796988" cy="59491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100" dirty="0"/>
              <a:t>Cool </a:t>
            </a:r>
          </a:p>
          <a:p>
            <a:pPr algn="ctr"/>
            <a:r>
              <a:rPr lang="en-US" sz="1100" dirty="0"/>
              <a:t>pottery</a:t>
            </a:r>
          </a:p>
        </p:txBody>
      </p:sp>
      <p:cxnSp>
        <p:nvCxnSpPr>
          <p:cNvPr id="228" name="Straight Arrow Connector 227">
            <a:extLst>
              <a:ext uri="{FF2B5EF4-FFF2-40B4-BE49-F238E27FC236}">
                <a16:creationId xmlns:a16="http://schemas.microsoft.com/office/drawing/2014/main" id="{E0489F90-53A2-7B4F-DC72-0EE7A2D0278F}"/>
              </a:ext>
            </a:extLst>
          </p:cNvPr>
          <p:cNvCxnSpPr>
            <a:cxnSpLocks/>
            <a:stCxn id="13" idx="3"/>
            <a:endCxn id="201" idx="1"/>
          </p:cNvCxnSpPr>
          <p:nvPr/>
        </p:nvCxnSpPr>
        <p:spPr>
          <a:xfrm>
            <a:off x="3816799" y="5003200"/>
            <a:ext cx="138532" cy="80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1" name="Straight Arrow Connector 230">
            <a:extLst>
              <a:ext uri="{FF2B5EF4-FFF2-40B4-BE49-F238E27FC236}">
                <a16:creationId xmlns:a16="http://schemas.microsoft.com/office/drawing/2014/main" id="{EA35A88C-7748-92EA-1E6A-CCBD032E620C}"/>
              </a:ext>
            </a:extLst>
          </p:cNvPr>
          <p:cNvCxnSpPr>
            <a:cxnSpLocks/>
            <a:stCxn id="201" idx="3"/>
            <a:endCxn id="16" idx="1"/>
          </p:cNvCxnSpPr>
          <p:nvPr/>
        </p:nvCxnSpPr>
        <p:spPr>
          <a:xfrm flipV="1">
            <a:off x="4752319" y="5006926"/>
            <a:ext cx="230969" cy="4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6" name="TextBox 235">
            <a:extLst>
              <a:ext uri="{FF2B5EF4-FFF2-40B4-BE49-F238E27FC236}">
                <a16:creationId xmlns:a16="http://schemas.microsoft.com/office/drawing/2014/main" id="{A4D1F261-2BB1-6211-125B-CDE79E70A6CF}"/>
              </a:ext>
            </a:extLst>
          </p:cNvPr>
          <p:cNvSpPr txBox="1"/>
          <p:nvPr/>
        </p:nvSpPr>
        <p:spPr>
          <a:xfrm>
            <a:off x="3282877" y="5459930"/>
            <a:ext cx="4148667" cy="1200329"/>
          </a:xfrm>
          <a:prstGeom prst="rect">
            <a:avLst/>
          </a:prstGeom>
          <a:noFill/>
          <a:ln>
            <a:solidFill>
              <a:schemeClr val="tx1"/>
            </a:solidFill>
          </a:ln>
        </p:spPr>
        <p:txBody>
          <a:bodyPr wrap="square" rtlCol="0">
            <a:spAutoFit/>
          </a:bodyPr>
          <a:lstStyle/>
          <a:p>
            <a:pPr algn="ctr"/>
            <a:r>
              <a:rPr lang="en-US" b="1" dirty="0"/>
              <a:t>KEYS</a:t>
            </a:r>
          </a:p>
          <a:p>
            <a:r>
              <a:rPr lang="en-US" dirty="0">
                <a:solidFill>
                  <a:schemeClr val="accent2">
                    <a:lumMod val="60000"/>
                    <a:lumOff val="40000"/>
                  </a:schemeClr>
                </a:solidFill>
              </a:rPr>
              <a:t>Orange= Value Add</a:t>
            </a:r>
          </a:p>
          <a:p>
            <a:r>
              <a:rPr lang="en-US" dirty="0">
                <a:solidFill>
                  <a:schemeClr val="accent4">
                    <a:lumMod val="60000"/>
                    <a:lumOff val="40000"/>
                  </a:schemeClr>
                </a:solidFill>
              </a:rPr>
              <a:t>Yellow= No Value Add but Necessary</a:t>
            </a:r>
          </a:p>
          <a:p>
            <a:r>
              <a:rPr lang="en-US" dirty="0">
                <a:solidFill>
                  <a:schemeClr val="accent6">
                    <a:lumMod val="60000"/>
                    <a:lumOff val="40000"/>
                  </a:schemeClr>
                </a:solidFill>
              </a:rPr>
              <a:t>Green=Decision</a:t>
            </a:r>
          </a:p>
        </p:txBody>
      </p:sp>
      <p:sp>
        <p:nvSpPr>
          <p:cNvPr id="237" name="Rectangle 236">
            <a:extLst>
              <a:ext uri="{FF2B5EF4-FFF2-40B4-BE49-F238E27FC236}">
                <a16:creationId xmlns:a16="http://schemas.microsoft.com/office/drawing/2014/main" id="{AE474EE6-8089-A7C3-18C4-7F97DC110284}"/>
              </a:ext>
            </a:extLst>
          </p:cNvPr>
          <p:cNvSpPr/>
          <p:nvPr/>
        </p:nvSpPr>
        <p:spPr>
          <a:xfrm>
            <a:off x="237944" y="3173201"/>
            <a:ext cx="1052874" cy="57287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100" dirty="0"/>
              <a:t>Remove pottery from mold</a:t>
            </a:r>
          </a:p>
        </p:txBody>
      </p:sp>
      <p:cxnSp>
        <p:nvCxnSpPr>
          <p:cNvPr id="241" name="Straight Arrow Connector 240">
            <a:extLst>
              <a:ext uri="{FF2B5EF4-FFF2-40B4-BE49-F238E27FC236}">
                <a16:creationId xmlns:a16="http://schemas.microsoft.com/office/drawing/2014/main" id="{13DBF478-61A8-1762-4C9D-15A2B19BDF8B}"/>
              </a:ext>
            </a:extLst>
          </p:cNvPr>
          <p:cNvCxnSpPr>
            <a:cxnSpLocks/>
            <a:stCxn id="237" idx="3"/>
            <a:endCxn id="10" idx="1"/>
          </p:cNvCxnSpPr>
          <p:nvPr/>
        </p:nvCxnSpPr>
        <p:spPr>
          <a:xfrm>
            <a:off x="1290818" y="3459640"/>
            <a:ext cx="410483" cy="1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0580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477AC-9339-78BC-4348-6BEC558AC627}"/>
              </a:ext>
            </a:extLst>
          </p:cNvPr>
          <p:cNvSpPr>
            <a:spLocks noGrp="1"/>
          </p:cNvSpPr>
          <p:nvPr>
            <p:ph type="title"/>
          </p:nvPr>
        </p:nvSpPr>
        <p:spPr/>
        <p:txBody>
          <a:bodyPr/>
          <a:lstStyle/>
          <a:p>
            <a:r>
              <a:rPr lang="en-US" b="1" dirty="0"/>
              <a:t>Current State- Painting Process Map</a:t>
            </a:r>
            <a:endParaRPr lang="en-US" dirty="0"/>
          </a:p>
        </p:txBody>
      </p:sp>
      <p:sp>
        <p:nvSpPr>
          <p:cNvPr id="6" name="Rectangle 5">
            <a:extLst>
              <a:ext uri="{FF2B5EF4-FFF2-40B4-BE49-F238E27FC236}">
                <a16:creationId xmlns:a16="http://schemas.microsoft.com/office/drawing/2014/main" id="{3B6380DD-B56B-82D3-989A-58DA1884346E}"/>
              </a:ext>
            </a:extLst>
          </p:cNvPr>
          <p:cNvSpPr/>
          <p:nvPr/>
        </p:nvSpPr>
        <p:spPr>
          <a:xfrm>
            <a:off x="965201" y="1847608"/>
            <a:ext cx="1524000" cy="694267"/>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solidFill>
                  <a:schemeClr val="tx1"/>
                </a:solidFill>
              </a:rPr>
              <a:t>Prepare paint</a:t>
            </a:r>
          </a:p>
        </p:txBody>
      </p:sp>
      <p:sp>
        <p:nvSpPr>
          <p:cNvPr id="7" name="Rectangle 6">
            <a:extLst>
              <a:ext uri="{FF2B5EF4-FFF2-40B4-BE49-F238E27FC236}">
                <a16:creationId xmlns:a16="http://schemas.microsoft.com/office/drawing/2014/main" id="{BCC03570-9A2E-0E67-1C47-F3173B2F33C7}"/>
              </a:ext>
            </a:extLst>
          </p:cNvPr>
          <p:cNvSpPr/>
          <p:nvPr/>
        </p:nvSpPr>
        <p:spPr>
          <a:xfrm>
            <a:off x="3005674" y="3300081"/>
            <a:ext cx="1524000" cy="69426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solidFill>
                  <a:schemeClr val="tx1"/>
                </a:solidFill>
              </a:rPr>
              <a:t>Measure medium</a:t>
            </a:r>
          </a:p>
        </p:txBody>
      </p:sp>
      <p:sp>
        <p:nvSpPr>
          <p:cNvPr id="8" name="Rectangle 7">
            <a:extLst>
              <a:ext uri="{FF2B5EF4-FFF2-40B4-BE49-F238E27FC236}">
                <a16:creationId xmlns:a16="http://schemas.microsoft.com/office/drawing/2014/main" id="{201AF26A-AE7C-47AC-C65B-5848094017CA}"/>
              </a:ext>
            </a:extLst>
          </p:cNvPr>
          <p:cNvSpPr/>
          <p:nvPr/>
        </p:nvSpPr>
        <p:spPr>
          <a:xfrm>
            <a:off x="965201" y="3292134"/>
            <a:ext cx="1524000" cy="69426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solidFill>
                  <a:schemeClr val="tx1"/>
                </a:solidFill>
              </a:rPr>
              <a:t>Measure glaze</a:t>
            </a:r>
          </a:p>
        </p:txBody>
      </p:sp>
      <p:sp>
        <p:nvSpPr>
          <p:cNvPr id="9" name="Rectangle 8">
            <a:extLst>
              <a:ext uri="{FF2B5EF4-FFF2-40B4-BE49-F238E27FC236}">
                <a16:creationId xmlns:a16="http://schemas.microsoft.com/office/drawing/2014/main" id="{83161876-2A04-535B-009B-56FEA8EFFB25}"/>
              </a:ext>
            </a:extLst>
          </p:cNvPr>
          <p:cNvSpPr/>
          <p:nvPr/>
        </p:nvSpPr>
        <p:spPr>
          <a:xfrm>
            <a:off x="5198533" y="1831205"/>
            <a:ext cx="1524000" cy="69426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solidFill>
                  <a:schemeClr val="tx1"/>
                </a:solidFill>
              </a:rPr>
              <a:t>Measure water</a:t>
            </a:r>
          </a:p>
        </p:txBody>
      </p:sp>
      <p:sp>
        <p:nvSpPr>
          <p:cNvPr id="10" name="Rectangle 9">
            <a:extLst>
              <a:ext uri="{FF2B5EF4-FFF2-40B4-BE49-F238E27FC236}">
                <a16:creationId xmlns:a16="http://schemas.microsoft.com/office/drawing/2014/main" id="{66CEBF6C-B344-4F97-821D-E4B340D0F6F1}"/>
              </a:ext>
            </a:extLst>
          </p:cNvPr>
          <p:cNvSpPr/>
          <p:nvPr/>
        </p:nvSpPr>
        <p:spPr>
          <a:xfrm>
            <a:off x="3005674" y="1832550"/>
            <a:ext cx="1524000" cy="69426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solidFill>
                  <a:schemeClr val="tx1"/>
                </a:solidFill>
              </a:rPr>
              <a:t>Measure pigment</a:t>
            </a:r>
          </a:p>
        </p:txBody>
      </p:sp>
      <p:sp>
        <p:nvSpPr>
          <p:cNvPr id="11" name="Rectangle 10">
            <a:extLst>
              <a:ext uri="{FF2B5EF4-FFF2-40B4-BE49-F238E27FC236}">
                <a16:creationId xmlns:a16="http://schemas.microsoft.com/office/drawing/2014/main" id="{B43EE665-CDE4-1AB5-976C-C155A3572882}"/>
              </a:ext>
            </a:extLst>
          </p:cNvPr>
          <p:cNvSpPr/>
          <p:nvPr/>
        </p:nvSpPr>
        <p:spPr>
          <a:xfrm>
            <a:off x="7399864" y="1844918"/>
            <a:ext cx="1524000" cy="69426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solidFill>
                  <a:schemeClr val="tx1"/>
                </a:solidFill>
              </a:rPr>
              <a:t>Measure clay</a:t>
            </a:r>
          </a:p>
        </p:txBody>
      </p:sp>
      <p:sp>
        <p:nvSpPr>
          <p:cNvPr id="12" name="Rectangle 11">
            <a:extLst>
              <a:ext uri="{FF2B5EF4-FFF2-40B4-BE49-F238E27FC236}">
                <a16:creationId xmlns:a16="http://schemas.microsoft.com/office/drawing/2014/main" id="{6C607D6A-8CFE-38DE-7656-FE6112C13BEC}"/>
              </a:ext>
            </a:extLst>
          </p:cNvPr>
          <p:cNvSpPr/>
          <p:nvPr/>
        </p:nvSpPr>
        <p:spPr>
          <a:xfrm>
            <a:off x="5198533" y="3281273"/>
            <a:ext cx="1524000" cy="69426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solidFill>
                  <a:schemeClr val="tx1"/>
                </a:solidFill>
              </a:rPr>
              <a:t>Mix ingredients</a:t>
            </a:r>
          </a:p>
        </p:txBody>
      </p:sp>
      <p:sp>
        <p:nvSpPr>
          <p:cNvPr id="13" name="Rectangle 12">
            <a:extLst>
              <a:ext uri="{FF2B5EF4-FFF2-40B4-BE49-F238E27FC236}">
                <a16:creationId xmlns:a16="http://schemas.microsoft.com/office/drawing/2014/main" id="{813E4BE1-4990-4D97-C7B1-80EB2988CE31}"/>
              </a:ext>
            </a:extLst>
          </p:cNvPr>
          <p:cNvSpPr/>
          <p:nvPr/>
        </p:nvSpPr>
        <p:spPr>
          <a:xfrm>
            <a:off x="7399864" y="3292133"/>
            <a:ext cx="1524000" cy="694267"/>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solidFill>
                  <a:schemeClr val="tx1"/>
                </a:solidFill>
              </a:rPr>
              <a:t>Check consistency</a:t>
            </a:r>
          </a:p>
        </p:txBody>
      </p:sp>
      <p:sp>
        <p:nvSpPr>
          <p:cNvPr id="14" name="Rectangle 13">
            <a:extLst>
              <a:ext uri="{FF2B5EF4-FFF2-40B4-BE49-F238E27FC236}">
                <a16:creationId xmlns:a16="http://schemas.microsoft.com/office/drawing/2014/main" id="{A67E9BF0-E1BD-093D-5A27-3FCF7F28AF68}"/>
              </a:ext>
            </a:extLst>
          </p:cNvPr>
          <p:cNvSpPr/>
          <p:nvPr/>
        </p:nvSpPr>
        <p:spPr>
          <a:xfrm>
            <a:off x="9618132" y="3292132"/>
            <a:ext cx="1524000" cy="694267"/>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solidFill>
                  <a:schemeClr val="tx1"/>
                </a:solidFill>
              </a:rPr>
              <a:t>Apply paint</a:t>
            </a:r>
          </a:p>
        </p:txBody>
      </p:sp>
      <p:cxnSp>
        <p:nvCxnSpPr>
          <p:cNvPr id="16" name="Straight Arrow Connector 15">
            <a:extLst>
              <a:ext uri="{FF2B5EF4-FFF2-40B4-BE49-F238E27FC236}">
                <a16:creationId xmlns:a16="http://schemas.microsoft.com/office/drawing/2014/main" id="{B9A1B969-E6FF-23BF-8941-CC940EA34394}"/>
              </a:ext>
            </a:extLst>
          </p:cNvPr>
          <p:cNvCxnSpPr>
            <a:cxnSpLocks/>
            <a:stCxn id="6" idx="3"/>
            <a:endCxn id="10" idx="1"/>
          </p:cNvCxnSpPr>
          <p:nvPr/>
        </p:nvCxnSpPr>
        <p:spPr>
          <a:xfrm flipV="1">
            <a:off x="2489201" y="2179684"/>
            <a:ext cx="516473" cy="150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800982F-B767-3CA5-B7D6-2969130EEA59}"/>
              </a:ext>
            </a:extLst>
          </p:cNvPr>
          <p:cNvCxnSpPr>
            <a:cxnSpLocks/>
            <a:stCxn id="10" idx="3"/>
            <a:endCxn id="9" idx="1"/>
          </p:cNvCxnSpPr>
          <p:nvPr/>
        </p:nvCxnSpPr>
        <p:spPr>
          <a:xfrm flipV="1">
            <a:off x="4529674" y="2178339"/>
            <a:ext cx="668859" cy="1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1C24B5A-DBE4-BC3E-FA2E-51425DD322A9}"/>
              </a:ext>
            </a:extLst>
          </p:cNvPr>
          <p:cNvCxnSpPr>
            <a:cxnSpLocks/>
            <a:stCxn id="9" idx="3"/>
            <a:endCxn id="11" idx="1"/>
          </p:cNvCxnSpPr>
          <p:nvPr/>
        </p:nvCxnSpPr>
        <p:spPr>
          <a:xfrm>
            <a:off x="6722533" y="2178339"/>
            <a:ext cx="677331" cy="13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4942F27-2557-F087-24F6-2BCC1EF6927D}"/>
              </a:ext>
            </a:extLst>
          </p:cNvPr>
          <p:cNvCxnSpPr>
            <a:cxnSpLocks/>
            <a:stCxn id="8" idx="3"/>
            <a:endCxn id="7" idx="1"/>
          </p:cNvCxnSpPr>
          <p:nvPr/>
        </p:nvCxnSpPr>
        <p:spPr>
          <a:xfrm>
            <a:off x="2489201" y="3639268"/>
            <a:ext cx="516473" cy="7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2DBF1D3-D645-B6C6-095A-7E040086DA09}"/>
              </a:ext>
            </a:extLst>
          </p:cNvPr>
          <p:cNvCxnSpPr>
            <a:cxnSpLocks/>
            <a:stCxn id="7" idx="3"/>
            <a:endCxn id="12" idx="1"/>
          </p:cNvCxnSpPr>
          <p:nvPr/>
        </p:nvCxnSpPr>
        <p:spPr>
          <a:xfrm flipV="1">
            <a:off x="4529674" y="3628407"/>
            <a:ext cx="668859" cy="188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3225D50-4EAE-FC4F-B9A8-318795F09561}"/>
              </a:ext>
            </a:extLst>
          </p:cNvPr>
          <p:cNvCxnSpPr>
            <a:cxnSpLocks/>
            <a:stCxn id="12" idx="3"/>
            <a:endCxn id="13" idx="1"/>
          </p:cNvCxnSpPr>
          <p:nvPr/>
        </p:nvCxnSpPr>
        <p:spPr>
          <a:xfrm>
            <a:off x="6722533" y="3628407"/>
            <a:ext cx="677331" cy="10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7C37D0C-7047-A9CF-0A41-331202801301}"/>
              </a:ext>
            </a:extLst>
          </p:cNvPr>
          <p:cNvCxnSpPr>
            <a:cxnSpLocks/>
            <a:stCxn id="13" idx="3"/>
            <a:endCxn id="14" idx="1"/>
          </p:cNvCxnSpPr>
          <p:nvPr/>
        </p:nvCxnSpPr>
        <p:spPr>
          <a:xfrm flipV="1">
            <a:off x="8923864" y="3639266"/>
            <a:ext cx="69426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2705C2D4-2446-E00F-72B9-D17B8E53A832}"/>
              </a:ext>
            </a:extLst>
          </p:cNvPr>
          <p:cNvCxnSpPr>
            <a:cxnSpLocks/>
            <a:stCxn id="11" idx="3"/>
            <a:endCxn id="8" idx="0"/>
          </p:cNvCxnSpPr>
          <p:nvPr/>
        </p:nvCxnSpPr>
        <p:spPr>
          <a:xfrm flipH="1">
            <a:off x="1727201" y="2192052"/>
            <a:ext cx="7196663" cy="1100082"/>
          </a:xfrm>
          <a:prstGeom prst="bentConnector4">
            <a:avLst>
              <a:gd name="adj1" fmla="val -3176"/>
              <a:gd name="adj2" fmla="val 65778"/>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AF1E9F9B-371C-4E4D-5F8D-E0502D040051}"/>
              </a:ext>
            </a:extLst>
          </p:cNvPr>
          <p:cNvSpPr txBox="1"/>
          <p:nvPr/>
        </p:nvSpPr>
        <p:spPr>
          <a:xfrm>
            <a:off x="965201" y="5130799"/>
            <a:ext cx="4148667" cy="923330"/>
          </a:xfrm>
          <a:prstGeom prst="rect">
            <a:avLst/>
          </a:prstGeom>
          <a:noFill/>
          <a:ln>
            <a:solidFill>
              <a:schemeClr val="tx1"/>
            </a:solidFill>
          </a:ln>
        </p:spPr>
        <p:txBody>
          <a:bodyPr wrap="square" rtlCol="0">
            <a:spAutoFit/>
          </a:bodyPr>
          <a:lstStyle/>
          <a:p>
            <a:pPr algn="ctr"/>
            <a:r>
              <a:rPr lang="en-US" b="1" dirty="0"/>
              <a:t>KEYS</a:t>
            </a:r>
          </a:p>
          <a:p>
            <a:r>
              <a:rPr lang="en-US" dirty="0">
                <a:solidFill>
                  <a:schemeClr val="accent2">
                    <a:lumMod val="60000"/>
                    <a:lumOff val="40000"/>
                  </a:schemeClr>
                </a:solidFill>
              </a:rPr>
              <a:t>Orange= Value Add</a:t>
            </a:r>
          </a:p>
          <a:p>
            <a:r>
              <a:rPr lang="en-US" dirty="0">
                <a:solidFill>
                  <a:schemeClr val="accent4">
                    <a:lumMod val="60000"/>
                    <a:lumOff val="40000"/>
                  </a:schemeClr>
                </a:solidFill>
              </a:rPr>
              <a:t>Yellow= No Value Add but Necessary</a:t>
            </a:r>
          </a:p>
        </p:txBody>
      </p:sp>
      <p:sp>
        <p:nvSpPr>
          <p:cNvPr id="71" name="TextBox 70">
            <a:extLst>
              <a:ext uri="{FF2B5EF4-FFF2-40B4-BE49-F238E27FC236}">
                <a16:creationId xmlns:a16="http://schemas.microsoft.com/office/drawing/2014/main" id="{21C0C88D-1A5F-61EF-F951-20181B4F00C1}"/>
              </a:ext>
            </a:extLst>
          </p:cNvPr>
          <p:cNvSpPr txBox="1"/>
          <p:nvPr/>
        </p:nvSpPr>
        <p:spPr>
          <a:xfrm>
            <a:off x="251208" y="6337734"/>
            <a:ext cx="1191829" cy="369332"/>
          </a:xfrm>
          <a:prstGeom prst="rect">
            <a:avLst/>
          </a:prstGeom>
          <a:noFill/>
        </p:spPr>
        <p:txBody>
          <a:bodyPr wrap="square" rtlCol="0">
            <a:spAutoFit/>
          </a:bodyPr>
          <a:lstStyle/>
          <a:p>
            <a:r>
              <a:rPr lang="en-US" b="1" dirty="0">
                <a:solidFill>
                  <a:schemeClr val="accent1"/>
                </a:solidFill>
              </a:rPr>
              <a:t>MEASURE</a:t>
            </a:r>
          </a:p>
        </p:txBody>
      </p:sp>
    </p:spTree>
    <p:extLst>
      <p:ext uri="{BB962C8B-B14F-4D97-AF65-F5344CB8AC3E}">
        <p14:creationId xmlns:p14="http://schemas.microsoft.com/office/powerpoint/2010/main" val="3558512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35F89-798E-7D2F-A9A9-1AF74B8F3E13}"/>
              </a:ext>
            </a:extLst>
          </p:cNvPr>
          <p:cNvSpPr>
            <a:spLocks noGrp="1"/>
          </p:cNvSpPr>
          <p:nvPr>
            <p:ph type="title"/>
          </p:nvPr>
        </p:nvSpPr>
        <p:spPr/>
        <p:txBody>
          <a:bodyPr/>
          <a:lstStyle/>
          <a:p>
            <a:r>
              <a:rPr lang="en-US" b="1" dirty="0"/>
              <a:t>Analysis - Root Cause</a:t>
            </a:r>
          </a:p>
        </p:txBody>
      </p:sp>
      <p:sp>
        <p:nvSpPr>
          <p:cNvPr id="3" name="Content Placeholder 2">
            <a:extLst>
              <a:ext uri="{FF2B5EF4-FFF2-40B4-BE49-F238E27FC236}">
                <a16:creationId xmlns:a16="http://schemas.microsoft.com/office/drawing/2014/main" id="{2CFF84EA-4DB1-66E9-9D46-C3A5DEAAB6FA}"/>
              </a:ext>
            </a:extLst>
          </p:cNvPr>
          <p:cNvSpPr>
            <a:spLocks noGrp="1"/>
          </p:cNvSpPr>
          <p:nvPr>
            <p:ph idx="1"/>
          </p:nvPr>
        </p:nvSpPr>
        <p:spPr/>
        <p:txBody>
          <a:bodyPr>
            <a:normAutofit lnSpcReduction="10000"/>
          </a:bodyPr>
          <a:lstStyle/>
          <a:p>
            <a:pPr marL="0" indent="0">
              <a:buNone/>
            </a:pPr>
            <a:r>
              <a:rPr lang="en-US" dirty="0"/>
              <a:t>The Analyze phase focused on evaluating the paint formulation to identify the cause of the paint related defects because defects increased after switching from commercial paint. Multiple paint formulations were tested by adjusting the grams of pigment, glaze, clay, water. The paint medium was kept constant at 2 drops. Each formulation was applied to five ceramic test tiles and evaluated after firing.</a:t>
            </a:r>
          </a:p>
          <a:p>
            <a:pPr marL="0" indent="0">
              <a:buNone/>
            </a:pPr>
            <a:r>
              <a:rPr lang="en-US" sz="2000" dirty="0"/>
              <a:t>Keeping the firing process consistent;</a:t>
            </a:r>
          </a:p>
          <a:p>
            <a:pPr marL="0" indent="0">
              <a:buNone/>
            </a:pPr>
            <a:r>
              <a:rPr lang="en-US" sz="2000" b="0" u="none" strike="noStrike" dirty="0">
                <a:effectLst/>
                <a:latin typeface="Google Sans"/>
              </a:rPr>
              <a:t>The kiln setup remained identical for every firing.</a:t>
            </a:r>
            <a:endParaRPr lang="en-US" sz="2000" u="none" strike="noStrike" dirty="0">
              <a:effectLst/>
              <a:latin typeface="Google Sans"/>
            </a:endParaRPr>
          </a:p>
          <a:p>
            <a:pPr marL="0" indent="0">
              <a:buNone/>
            </a:pPr>
            <a:r>
              <a:rPr lang="en-US" sz="2000" u="none" strike="noStrike" dirty="0">
                <a:effectLst/>
                <a:latin typeface="Google Sans"/>
              </a:rPr>
              <a:t>The kiln temperature is fixed at 1040 degrees Celsius for all firings.</a:t>
            </a:r>
            <a:endParaRPr lang="en-US" sz="2000" dirty="0"/>
          </a:p>
          <a:p>
            <a:pPr marL="0" indent="0">
              <a:buNone/>
            </a:pPr>
            <a:r>
              <a:rPr lang="en-US" sz="2000" dirty="0"/>
              <a:t>The kiln reaches </a:t>
            </a:r>
            <a:r>
              <a:rPr lang="en-US" sz="2000" u="none" strike="noStrike" dirty="0">
                <a:effectLst/>
                <a:latin typeface="Google Sans"/>
              </a:rPr>
              <a:t>1040°C</a:t>
            </a:r>
            <a:r>
              <a:rPr lang="en-US" sz="2000" dirty="0"/>
              <a:t> in 8–10 hours (depending on </a:t>
            </a:r>
            <a:r>
              <a:rPr lang="en-US" sz="2000" u="none" strike="noStrike" dirty="0">
                <a:effectLst/>
                <a:latin typeface="Google Sans"/>
              </a:rPr>
              <a:t>the</a:t>
            </a:r>
            <a:r>
              <a:rPr lang="en-US" sz="2000" dirty="0"/>
              <a:t> outside temperature).</a:t>
            </a:r>
          </a:p>
          <a:p>
            <a:pPr marL="0" indent="0">
              <a:buNone/>
            </a:pPr>
            <a:r>
              <a:rPr lang="en-US" sz="2000" dirty="0"/>
              <a:t>The kiln cools </a:t>
            </a:r>
            <a:r>
              <a:rPr lang="en-US" sz="2000" u="none" strike="noStrike" dirty="0">
                <a:effectLst/>
                <a:latin typeface="Google Sans"/>
              </a:rPr>
              <a:t>down in</a:t>
            </a:r>
            <a:r>
              <a:rPr lang="en-US" sz="2000" dirty="0"/>
              <a:t> around 32–35 hours (depending on </a:t>
            </a:r>
            <a:r>
              <a:rPr lang="en-US" sz="2000" u="none" strike="noStrike" dirty="0">
                <a:effectLst/>
                <a:latin typeface="Google Sans"/>
              </a:rPr>
              <a:t>the</a:t>
            </a:r>
            <a:r>
              <a:rPr lang="en-US" sz="2000" dirty="0"/>
              <a:t> outside temperature).</a:t>
            </a:r>
          </a:p>
          <a:p>
            <a:pPr marL="0" indent="0">
              <a:buNone/>
            </a:pPr>
            <a:endParaRPr lang="en-US" dirty="0"/>
          </a:p>
        </p:txBody>
      </p:sp>
      <p:sp>
        <p:nvSpPr>
          <p:cNvPr id="4" name="TextBox 3">
            <a:extLst>
              <a:ext uri="{FF2B5EF4-FFF2-40B4-BE49-F238E27FC236}">
                <a16:creationId xmlns:a16="http://schemas.microsoft.com/office/drawing/2014/main" id="{D9C6AC26-C935-A410-82F6-EF863DA97047}"/>
              </a:ext>
            </a:extLst>
          </p:cNvPr>
          <p:cNvSpPr txBox="1"/>
          <p:nvPr/>
        </p:nvSpPr>
        <p:spPr>
          <a:xfrm>
            <a:off x="251208" y="6337734"/>
            <a:ext cx="1191829" cy="369332"/>
          </a:xfrm>
          <a:prstGeom prst="rect">
            <a:avLst/>
          </a:prstGeom>
          <a:noFill/>
        </p:spPr>
        <p:txBody>
          <a:bodyPr wrap="square" rtlCol="0">
            <a:spAutoFit/>
          </a:bodyPr>
          <a:lstStyle/>
          <a:p>
            <a:r>
              <a:rPr lang="en-US" b="1" dirty="0">
                <a:solidFill>
                  <a:schemeClr val="accent1"/>
                </a:solidFill>
              </a:rPr>
              <a:t>ANALYZE</a:t>
            </a:r>
          </a:p>
        </p:txBody>
      </p:sp>
    </p:spTree>
    <p:extLst>
      <p:ext uri="{BB962C8B-B14F-4D97-AF65-F5344CB8AC3E}">
        <p14:creationId xmlns:p14="http://schemas.microsoft.com/office/powerpoint/2010/main" val="271365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837C4-545E-FE01-A042-901B6F5C1C22}"/>
              </a:ext>
            </a:extLst>
          </p:cNvPr>
          <p:cNvSpPr>
            <a:spLocks noGrp="1"/>
          </p:cNvSpPr>
          <p:nvPr>
            <p:ph type="title"/>
          </p:nvPr>
        </p:nvSpPr>
        <p:spPr/>
        <p:txBody>
          <a:bodyPr/>
          <a:lstStyle/>
          <a:p>
            <a:r>
              <a:rPr lang="en-US" b="1" dirty="0"/>
              <a:t>Analysis- Fishbone Diagram Analysis</a:t>
            </a:r>
          </a:p>
        </p:txBody>
      </p:sp>
      <p:pic>
        <p:nvPicPr>
          <p:cNvPr id="6" name="Content Placeholder 5" descr="A diagram of a fishbone diagram&#10;&#10;Description automatically generated">
            <a:extLst>
              <a:ext uri="{FF2B5EF4-FFF2-40B4-BE49-F238E27FC236}">
                <a16:creationId xmlns:a16="http://schemas.microsoft.com/office/drawing/2014/main" id="{FB61E68C-A5E6-32C7-5E0B-9DC79C43DF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8611" y="1406421"/>
            <a:ext cx="7454778" cy="4661959"/>
          </a:xfrm>
        </p:spPr>
      </p:pic>
      <p:sp>
        <p:nvSpPr>
          <p:cNvPr id="4" name="TextBox 3">
            <a:extLst>
              <a:ext uri="{FF2B5EF4-FFF2-40B4-BE49-F238E27FC236}">
                <a16:creationId xmlns:a16="http://schemas.microsoft.com/office/drawing/2014/main" id="{36E565B8-D679-CE00-086F-B60153F2169B}"/>
              </a:ext>
            </a:extLst>
          </p:cNvPr>
          <p:cNvSpPr txBox="1"/>
          <p:nvPr/>
        </p:nvSpPr>
        <p:spPr>
          <a:xfrm>
            <a:off x="251208" y="6337734"/>
            <a:ext cx="1191829" cy="369332"/>
          </a:xfrm>
          <a:prstGeom prst="rect">
            <a:avLst/>
          </a:prstGeom>
          <a:noFill/>
        </p:spPr>
        <p:txBody>
          <a:bodyPr wrap="square" rtlCol="0">
            <a:spAutoFit/>
          </a:bodyPr>
          <a:lstStyle/>
          <a:p>
            <a:r>
              <a:rPr lang="en-US" b="1" dirty="0">
                <a:solidFill>
                  <a:schemeClr val="accent1"/>
                </a:solidFill>
              </a:rPr>
              <a:t>ANALYZE</a:t>
            </a:r>
          </a:p>
        </p:txBody>
      </p:sp>
    </p:spTree>
    <p:extLst>
      <p:ext uri="{BB962C8B-B14F-4D97-AF65-F5344CB8AC3E}">
        <p14:creationId xmlns:p14="http://schemas.microsoft.com/office/powerpoint/2010/main" val="4076621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129E9-E295-8F02-817C-A72B70DFCA08}"/>
              </a:ext>
            </a:extLst>
          </p:cNvPr>
          <p:cNvSpPr>
            <a:spLocks noGrp="1"/>
          </p:cNvSpPr>
          <p:nvPr>
            <p:ph type="title"/>
          </p:nvPr>
        </p:nvSpPr>
        <p:spPr>
          <a:xfrm>
            <a:off x="831902" y="91978"/>
            <a:ext cx="10515600" cy="1325563"/>
          </a:xfrm>
        </p:spPr>
        <p:txBody>
          <a:bodyPr/>
          <a:lstStyle/>
          <a:p>
            <a:r>
              <a:rPr lang="en-US" b="1" dirty="0"/>
              <a:t>Analysis- Formulation Trials</a:t>
            </a:r>
          </a:p>
        </p:txBody>
      </p:sp>
      <p:graphicFrame>
        <p:nvGraphicFramePr>
          <p:cNvPr id="4" name="Table 3">
            <a:extLst>
              <a:ext uri="{FF2B5EF4-FFF2-40B4-BE49-F238E27FC236}">
                <a16:creationId xmlns:a16="http://schemas.microsoft.com/office/drawing/2014/main" id="{04EE7718-3BB6-F7C1-4AAD-8A4E555DBD69}"/>
              </a:ext>
            </a:extLst>
          </p:cNvPr>
          <p:cNvGraphicFramePr>
            <a:graphicFrameLocks noGrp="1"/>
          </p:cNvGraphicFramePr>
          <p:nvPr>
            <p:extLst>
              <p:ext uri="{D42A27DB-BD31-4B8C-83A1-F6EECF244321}">
                <p14:modId xmlns:p14="http://schemas.microsoft.com/office/powerpoint/2010/main" val="3924749796"/>
              </p:ext>
            </p:extLst>
          </p:nvPr>
        </p:nvGraphicFramePr>
        <p:xfrm>
          <a:off x="368490" y="1405293"/>
          <a:ext cx="11489956" cy="4047414"/>
        </p:xfrm>
        <a:graphic>
          <a:graphicData uri="http://schemas.openxmlformats.org/drawingml/2006/table">
            <a:tbl>
              <a:tblPr firstRow="1" bandRow="1">
                <a:tableStyleId>{5C22544A-7EE6-4342-B048-85BDC9FD1C3A}</a:tableStyleId>
              </a:tblPr>
              <a:tblGrid>
                <a:gridCol w="715651">
                  <a:extLst>
                    <a:ext uri="{9D8B030D-6E8A-4147-A177-3AD203B41FA5}">
                      <a16:colId xmlns:a16="http://schemas.microsoft.com/office/drawing/2014/main" val="320726206"/>
                    </a:ext>
                  </a:extLst>
                </a:gridCol>
                <a:gridCol w="909779">
                  <a:extLst>
                    <a:ext uri="{9D8B030D-6E8A-4147-A177-3AD203B41FA5}">
                      <a16:colId xmlns:a16="http://schemas.microsoft.com/office/drawing/2014/main" val="2935472433"/>
                    </a:ext>
                  </a:extLst>
                </a:gridCol>
                <a:gridCol w="841115">
                  <a:extLst>
                    <a:ext uri="{9D8B030D-6E8A-4147-A177-3AD203B41FA5}">
                      <a16:colId xmlns:a16="http://schemas.microsoft.com/office/drawing/2014/main" val="3438451402"/>
                    </a:ext>
                  </a:extLst>
                </a:gridCol>
                <a:gridCol w="772455">
                  <a:extLst>
                    <a:ext uri="{9D8B030D-6E8A-4147-A177-3AD203B41FA5}">
                      <a16:colId xmlns:a16="http://schemas.microsoft.com/office/drawing/2014/main" val="2465338523"/>
                    </a:ext>
                  </a:extLst>
                </a:gridCol>
                <a:gridCol w="772454">
                  <a:extLst>
                    <a:ext uri="{9D8B030D-6E8A-4147-A177-3AD203B41FA5}">
                      <a16:colId xmlns:a16="http://schemas.microsoft.com/office/drawing/2014/main" val="1618285957"/>
                    </a:ext>
                  </a:extLst>
                </a:gridCol>
                <a:gridCol w="995607">
                  <a:extLst>
                    <a:ext uri="{9D8B030D-6E8A-4147-A177-3AD203B41FA5}">
                      <a16:colId xmlns:a16="http://schemas.microsoft.com/office/drawing/2014/main" val="399612431"/>
                    </a:ext>
                  </a:extLst>
                </a:gridCol>
                <a:gridCol w="926944">
                  <a:extLst>
                    <a:ext uri="{9D8B030D-6E8A-4147-A177-3AD203B41FA5}">
                      <a16:colId xmlns:a16="http://schemas.microsoft.com/office/drawing/2014/main" val="1781528482"/>
                    </a:ext>
                  </a:extLst>
                </a:gridCol>
                <a:gridCol w="944111">
                  <a:extLst>
                    <a:ext uri="{9D8B030D-6E8A-4147-A177-3AD203B41FA5}">
                      <a16:colId xmlns:a16="http://schemas.microsoft.com/office/drawing/2014/main" val="1559664117"/>
                    </a:ext>
                  </a:extLst>
                </a:gridCol>
                <a:gridCol w="2898058">
                  <a:extLst>
                    <a:ext uri="{9D8B030D-6E8A-4147-A177-3AD203B41FA5}">
                      <a16:colId xmlns:a16="http://schemas.microsoft.com/office/drawing/2014/main" val="4125263241"/>
                    </a:ext>
                  </a:extLst>
                </a:gridCol>
                <a:gridCol w="793630">
                  <a:extLst>
                    <a:ext uri="{9D8B030D-6E8A-4147-A177-3AD203B41FA5}">
                      <a16:colId xmlns:a16="http://schemas.microsoft.com/office/drawing/2014/main" val="787869609"/>
                    </a:ext>
                  </a:extLst>
                </a:gridCol>
                <a:gridCol w="920152">
                  <a:extLst>
                    <a:ext uri="{9D8B030D-6E8A-4147-A177-3AD203B41FA5}">
                      <a16:colId xmlns:a16="http://schemas.microsoft.com/office/drawing/2014/main" val="3252301577"/>
                    </a:ext>
                  </a:extLst>
                </a:gridCol>
              </a:tblGrid>
              <a:tr h="593974">
                <a:tc>
                  <a:txBody>
                    <a:bodyPr/>
                    <a:lstStyle/>
                    <a:p>
                      <a:pPr algn="ctr"/>
                      <a:r>
                        <a:rPr lang="en-US" sz="1100" dirty="0"/>
                        <a:t>Trials</a:t>
                      </a:r>
                    </a:p>
                  </a:txBody>
                  <a:tcPr/>
                </a:tc>
                <a:tc>
                  <a:txBody>
                    <a:bodyPr/>
                    <a:lstStyle/>
                    <a:p>
                      <a:pPr algn="ctr"/>
                      <a:r>
                        <a:rPr lang="en-US" sz="1100" dirty="0"/>
                        <a:t>Water </a:t>
                      </a:r>
                    </a:p>
                    <a:p>
                      <a:pPr algn="ctr"/>
                      <a:r>
                        <a:rPr lang="en-US" sz="1100" dirty="0"/>
                        <a:t>(g)</a:t>
                      </a:r>
                    </a:p>
                  </a:txBody>
                  <a:tcPr/>
                </a:tc>
                <a:tc>
                  <a:txBody>
                    <a:bodyPr/>
                    <a:lstStyle/>
                    <a:p>
                      <a:pPr algn="ctr"/>
                      <a:r>
                        <a:rPr lang="en-US" sz="1100" dirty="0"/>
                        <a:t>Pigment</a:t>
                      </a:r>
                    </a:p>
                    <a:p>
                      <a:pPr algn="ctr"/>
                      <a:r>
                        <a:rPr lang="en-US" sz="1100" dirty="0"/>
                        <a:t> (g)</a:t>
                      </a:r>
                    </a:p>
                  </a:txBody>
                  <a:tcPr/>
                </a:tc>
                <a:tc>
                  <a:txBody>
                    <a:bodyPr/>
                    <a:lstStyle/>
                    <a:p>
                      <a:pPr algn="ctr"/>
                      <a:r>
                        <a:rPr lang="en-US" sz="1100" dirty="0"/>
                        <a:t>Glaze </a:t>
                      </a:r>
                    </a:p>
                    <a:p>
                      <a:pPr algn="ctr"/>
                      <a:r>
                        <a:rPr lang="en-US" sz="1100" dirty="0"/>
                        <a:t>(g)</a:t>
                      </a:r>
                    </a:p>
                  </a:txBody>
                  <a:tcPr/>
                </a:tc>
                <a:tc>
                  <a:txBody>
                    <a:bodyPr/>
                    <a:lstStyle/>
                    <a:p>
                      <a:pPr algn="ctr"/>
                      <a:r>
                        <a:rPr lang="en-US" sz="1100" dirty="0"/>
                        <a:t>Glaze* Baume</a:t>
                      </a:r>
                    </a:p>
                    <a:p>
                      <a:pPr algn="ctr"/>
                      <a:r>
                        <a:rPr lang="en-US" sz="1100" dirty="0"/>
                        <a:t> </a:t>
                      </a:r>
                    </a:p>
                  </a:txBody>
                  <a:tcPr/>
                </a:tc>
                <a:tc>
                  <a:txBody>
                    <a:bodyPr/>
                    <a:lstStyle/>
                    <a:p>
                      <a:pPr algn="ctr"/>
                      <a:r>
                        <a:rPr lang="en-US" sz="1100" dirty="0"/>
                        <a:t>Clay </a:t>
                      </a:r>
                    </a:p>
                    <a:p>
                      <a:pPr algn="ctr"/>
                      <a:r>
                        <a:rPr lang="en-US" sz="1100" dirty="0"/>
                        <a:t>(g)</a:t>
                      </a:r>
                    </a:p>
                  </a:txBody>
                  <a:tcPr/>
                </a:tc>
                <a:tc>
                  <a:txBody>
                    <a:bodyPr/>
                    <a:lstStyle/>
                    <a:p>
                      <a:pPr algn="ctr"/>
                      <a:r>
                        <a:rPr lang="en-US" sz="1100" dirty="0"/>
                        <a:t>Medium </a:t>
                      </a:r>
                    </a:p>
                    <a:p>
                      <a:pPr algn="ctr"/>
                      <a:r>
                        <a:rPr lang="en-US" sz="1100" dirty="0"/>
                        <a:t>Drop*</a:t>
                      </a:r>
                    </a:p>
                  </a:txBody>
                  <a:tcPr/>
                </a:tc>
                <a:tc>
                  <a:txBody>
                    <a:bodyPr/>
                    <a:lstStyle/>
                    <a:p>
                      <a:pPr algn="ctr"/>
                      <a:r>
                        <a:rPr lang="en-US" sz="1100" dirty="0"/>
                        <a:t>Total </a:t>
                      </a:r>
                    </a:p>
                    <a:p>
                      <a:pPr algn="ctr"/>
                      <a:r>
                        <a:rPr lang="en-US" sz="1100" dirty="0"/>
                        <a:t>grams</a:t>
                      </a:r>
                    </a:p>
                  </a:txBody>
                  <a:tcPr/>
                </a:tc>
                <a:tc>
                  <a:txBody>
                    <a:bodyPr/>
                    <a:lstStyle/>
                    <a:p>
                      <a:pPr algn="ctr"/>
                      <a:r>
                        <a:rPr lang="en-US" sz="1100" dirty="0"/>
                        <a:t>Problem</a:t>
                      </a:r>
                    </a:p>
                  </a:txBody>
                  <a:tcPr/>
                </a:tc>
                <a:tc>
                  <a:txBody>
                    <a:bodyPr/>
                    <a:lstStyle/>
                    <a:p>
                      <a:pPr algn="ctr"/>
                      <a:r>
                        <a:rPr lang="en-US" sz="1100" dirty="0"/>
                        <a:t>Total Pottery</a:t>
                      </a:r>
                    </a:p>
                  </a:txBody>
                  <a:tcPr/>
                </a:tc>
                <a:tc>
                  <a:txBody>
                    <a:bodyPr/>
                    <a:lstStyle/>
                    <a:p>
                      <a:pPr algn="ctr"/>
                      <a:r>
                        <a:rPr lang="en-US" sz="1100" dirty="0"/>
                        <a:t>Defected Pottery</a:t>
                      </a:r>
                    </a:p>
                  </a:txBody>
                  <a:tcPr/>
                </a:tc>
                <a:extLst>
                  <a:ext uri="{0D108BD9-81ED-4DB2-BD59-A6C34878D82A}">
                    <a16:rowId xmlns:a16="http://schemas.microsoft.com/office/drawing/2014/main" val="3266587177"/>
                  </a:ext>
                </a:extLst>
              </a:tr>
              <a:tr h="313914">
                <a:tc>
                  <a:txBody>
                    <a:bodyPr/>
                    <a:lstStyle/>
                    <a:p>
                      <a:r>
                        <a:rPr lang="en-US" sz="1100" dirty="0"/>
                        <a:t>Original</a:t>
                      </a:r>
                    </a:p>
                  </a:txBody>
                  <a:tcPr/>
                </a:tc>
                <a:tc>
                  <a:txBody>
                    <a:bodyPr/>
                    <a:lstStyle/>
                    <a:p>
                      <a:r>
                        <a:rPr lang="en-US" sz="1100" dirty="0"/>
                        <a:t>11 grams</a:t>
                      </a:r>
                    </a:p>
                  </a:txBody>
                  <a:tcPr/>
                </a:tc>
                <a:tc>
                  <a:txBody>
                    <a:bodyPr/>
                    <a:lstStyle/>
                    <a:p>
                      <a:r>
                        <a:rPr lang="en-US" sz="1100" dirty="0"/>
                        <a:t>6 grams</a:t>
                      </a:r>
                    </a:p>
                  </a:txBody>
                  <a:tcPr/>
                </a:tc>
                <a:tc>
                  <a:txBody>
                    <a:bodyPr/>
                    <a:lstStyle/>
                    <a:p>
                      <a:r>
                        <a:rPr lang="en-US" sz="1100" dirty="0"/>
                        <a:t>10 grams</a:t>
                      </a:r>
                    </a:p>
                  </a:txBody>
                  <a:tcPr/>
                </a:tc>
                <a:tc>
                  <a:txBody>
                    <a:bodyPr/>
                    <a:lstStyle/>
                    <a:p>
                      <a:r>
                        <a:rPr lang="en-US" sz="1100" dirty="0"/>
                        <a:t>37 </a:t>
                      </a:r>
                    </a:p>
                  </a:txBody>
                  <a:tcPr/>
                </a:tc>
                <a:tc>
                  <a:txBody>
                    <a:bodyPr/>
                    <a:lstStyle/>
                    <a:p>
                      <a:r>
                        <a:rPr lang="en-US" sz="1100" dirty="0"/>
                        <a:t>13 grams</a:t>
                      </a:r>
                    </a:p>
                  </a:txBody>
                  <a:tcPr/>
                </a:tc>
                <a:tc>
                  <a:txBody>
                    <a:bodyPr/>
                    <a:lstStyle/>
                    <a:p>
                      <a:r>
                        <a:rPr lang="en-US" sz="1100" dirty="0"/>
                        <a:t>2 drops</a:t>
                      </a:r>
                    </a:p>
                  </a:txBody>
                  <a:tcPr/>
                </a:tc>
                <a:tc>
                  <a:txBody>
                    <a:bodyPr/>
                    <a:lstStyle/>
                    <a:p>
                      <a:r>
                        <a:rPr lang="en-US" sz="1100" dirty="0"/>
                        <a:t>40 grams</a:t>
                      </a:r>
                    </a:p>
                  </a:txBody>
                  <a:tcPr/>
                </a:tc>
                <a:tc>
                  <a:txBody>
                    <a:bodyPr/>
                    <a:lstStyle/>
                    <a:p>
                      <a:r>
                        <a:rPr lang="en-US" sz="1100" dirty="0"/>
                        <a:t>Melting, chipping, cracking, discoloration</a:t>
                      </a:r>
                    </a:p>
                  </a:txBody>
                  <a:tcPr/>
                </a:tc>
                <a:tc>
                  <a:txBody>
                    <a:bodyPr/>
                    <a:lstStyle/>
                    <a:p>
                      <a:r>
                        <a:rPr lang="en-US" sz="1100" dirty="0"/>
                        <a:t>53 pieces</a:t>
                      </a:r>
                    </a:p>
                  </a:txBody>
                  <a:tcPr/>
                </a:tc>
                <a:tc>
                  <a:txBody>
                    <a:bodyPr/>
                    <a:lstStyle/>
                    <a:p>
                      <a:r>
                        <a:rPr lang="en-US" sz="1100" dirty="0"/>
                        <a:t>48 pieces</a:t>
                      </a:r>
                    </a:p>
                  </a:txBody>
                  <a:tcPr/>
                </a:tc>
                <a:extLst>
                  <a:ext uri="{0D108BD9-81ED-4DB2-BD59-A6C34878D82A}">
                    <a16:rowId xmlns:a16="http://schemas.microsoft.com/office/drawing/2014/main" val="2588565960"/>
                  </a:ext>
                </a:extLst>
              </a:tr>
              <a:tr h="313914">
                <a:tc>
                  <a:txBody>
                    <a:bodyPr/>
                    <a:lstStyle/>
                    <a:p>
                      <a:r>
                        <a:rPr lang="en-US" sz="1100" dirty="0"/>
                        <a:t>Trial 1</a:t>
                      </a:r>
                    </a:p>
                  </a:txBody>
                  <a:tcPr/>
                </a:tc>
                <a:tc>
                  <a:txBody>
                    <a:bodyPr/>
                    <a:lstStyle/>
                    <a:p>
                      <a:r>
                        <a:rPr lang="en-US" sz="1100" dirty="0"/>
                        <a:t>11 grams</a:t>
                      </a:r>
                    </a:p>
                  </a:txBody>
                  <a:tcPr/>
                </a:tc>
                <a:tc>
                  <a:txBody>
                    <a:bodyPr/>
                    <a:lstStyle/>
                    <a:p>
                      <a:r>
                        <a:rPr lang="en-US" sz="1100" dirty="0"/>
                        <a:t>6 grams </a:t>
                      </a:r>
                    </a:p>
                  </a:txBody>
                  <a:tcPr/>
                </a:tc>
                <a:tc>
                  <a:txBody>
                    <a:bodyPr/>
                    <a:lstStyle/>
                    <a:p>
                      <a:r>
                        <a:rPr lang="en-US" sz="1100" dirty="0"/>
                        <a:t>10 grams</a:t>
                      </a:r>
                    </a:p>
                  </a:txBody>
                  <a:tcPr/>
                </a:tc>
                <a:tc>
                  <a:txBody>
                    <a:bodyPr/>
                    <a:lstStyle/>
                    <a:p>
                      <a:r>
                        <a:rPr lang="en-US" sz="1100" dirty="0"/>
                        <a:t>36</a:t>
                      </a:r>
                    </a:p>
                  </a:txBody>
                  <a:tcPr/>
                </a:tc>
                <a:tc>
                  <a:txBody>
                    <a:bodyPr/>
                    <a:lstStyle/>
                    <a:p>
                      <a:r>
                        <a:rPr lang="en-US" sz="1100" dirty="0"/>
                        <a:t>13 grams</a:t>
                      </a:r>
                    </a:p>
                  </a:txBody>
                  <a:tcPr/>
                </a:tc>
                <a:tc>
                  <a:txBody>
                    <a:bodyPr/>
                    <a:lstStyle/>
                    <a:p>
                      <a:r>
                        <a:rPr lang="en-US" sz="1100" dirty="0"/>
                        <a:t>2 drops</a:t>
                      </a:r>
                    </a:p>
                  </a:txBody>
                  <a:tcPr/>
                </a:tc>
                <a:tc>
                  <a:txBody>
                    <a:bodyPr/>
                    <a:lstStyle/>
                    <a:p>
                      <a:r>
                        <a:rPr lang="en-US" sz="1100" dirty="0"/>
                        <a:t>40 grams</a:t>
                      </a:r>
                    </a:p>
                  </a:txBody>
                  <a:tcPr/>
                </a:tc>
                <a:tc>
                  <a:txBody>
                    <a:bodyPr/>
                    <a:lstStyle/>
                    <a:p>
                      <a:r>
                        <a:rPr lang="en-US" sz="1100" dirty="0"/>
                        <a:t>Glaze melted</a:t>
                      </a:r>
                    </a:p>
                  </a:txBody>
                  <a:tcPr/>
                </a:tc>
                <a:tc>
                  <a:txBody>
                    <a:bodyPr/>
                    <a:lstStyle/>
                    <a:p>
                      <a:r>
                        <a:rPr lang="en-US" sz="1100" dirty="0"/>
                        <a:t>5 tiles</a:t>
                      </a:r>
                    </a:p>
                  </a:txBody>
                  <a:tcPr/>
                </a:tc>
                <a:tc>
                  <a:txBody>
                    <a:bodyPr/>
                    <a:lstStyle/>
                    <a:p>
                      <a:r>
                        <a:rPr lang="en-US" sz="1100" dirty="0"/>
                        <a:t>5 tiles</a:t>
                      </a:r>
                    </a:p>
                  </a:txBody>
                  <a:tcPr/>
                </a:tc>
                <a:extLst>
                  <a:ext uri="{0D108BD9-81ED-4DB2-BD59-A6C34878D82A}">
                    <a16:rowId xmlns:a16="http://schemas.microsoft.com/office/drawing/2014/main" val="3656607924"/>
                  </a:ext>
                </a:extLst>
              </a:tr>
              <a:tr h="313914">
                <a:tc>
                  <a:txBody>
                    <a:bodyPr/>
                    <a:lstStyle/>
                    <a:p>
                      <a:r>
                        <a:rPr lang="en-US" sz="1100" dirty="0"/>
                        <a:t>Trial 2</a:t>
                      </a:r>
                    </a:p>
                  </a:txBody>
                  <a:tcPr/>
                </a:tc>
                <a:tc>
                  <a:txBody>
                    <a:bodyPr/>
                    <a:lstStyle/>
                    <a:p>
                      <a:r>
                        <a:rPr lang="en-US" sz="1100" dirty="0"/>
                        <a:t>11 grams</a:t>
                      </a:r>
                    </a:p>
                  </a:txBody>
                  <a:tcPr/>
                </a:tc>
                <a:tc>
                  <a:txBody>
                    <a:bodyPr/>
                    <a:lstStyle/>
                    <a:p>
                      <a:r>
                        <a:rPr lang="en-US" sz="1100" dirty="0"/>
                        <a:t>6 grams </a:t>
                      </a:r>
                    </a:p>
                  </a:txBody>
                  <a:tcPr/>
                </a:tc>
                <a:tc>
                  <a:txBody>
                    <a:bodyPr/>
                    <a:lstStyle/>
                    <a:p>
                      <a:r>
                        <a:rPr lang="en-US" sz="1100" dirty="0"/>
                        <a:t>10 grams</a:t>
                      </a:r>
                    </a:p>
                  </a:txBody>
                  <a:tcPr/>
                </a:tc>
                <a:tc>
                  <a:txBody>
                    <a:bodyPr/>
                    <a:lstStyle/>
                    <a:p>
                      <a:r>
                        <a:rPr lang="en-US" sz="1100" dirty="0"/>
                        <a:t>35</a:t>
                      </a:r>
                    </a:p>
                  </a:txBody>
                  <a:tcPr/>
                </a:tc>
                <a:tc>
                  <a:txBody>
                    <a:bodyPr/>
                    <a:lstStyle/>
                    <a:p>
                      <a:r>
                        <a:rPr lang="en-US" sz="1100" dirty="0"/>
                        <a:t>13 grams</a:t>
                      </a:r>
                    </a:p>
                  </a:txBody>
                  <a:tcPr/>
                </a:tc>
                <a:tc>
                  <a:txBody>
                    <a:bodyPr/>
                    <a:lstStyle/>
                    <a:p>
                      <a:r>
                        <a:rPr lang="en-US" sz="1100" dirty="0"/>
                        <a:t>2 drops</a:t>
                      </a:r>
                    </a:p>
                  </a:txBody>
                  <a:tcPr/>
                </a:tc>
                <a:tc>
                  <a:txBody>
                    <a:bodyPr/>
                    <a:lstStyle/>
                    <a:p>
                      <a:r>
                        <a:rPr lang="en-US" sz="1100" dirty="0"/>
                        <a:t>40 grams</a:t>
                      </a:r>
                    </a:p>
                  </a:txBody>
                  <a:tcPr/>
                </a:tc>
                <a:tc>
                  <a:txBody>
                    <a:bodyPr/>
                    <a:lstStyle/>
                    <a:p>
                      <a:r>
                        <a:rPr lang="en-US" sz="1100" dirty="0"/>
                        <a:t>Glaze melted</a:t>
                      </a:r>
                    </a:p>
                  </a:txBody>
                  <a:tcPr/>
                </a:tc>
                <a:tc>
                  <a:txBody>
                    <a:bodyPr/>
                    <a:lstStyle/>
                    <a:p>
                      <a:r>
                        <a:rPr lang="en-US" sz="1100" dirty="0"/>
                        <a:t>5 tiles</a:t>
                      </a:r>
                    </a:p>
                  </a:txBody>
                  <a:tcPr/>
                </a:tc>
                <a:tc>
                  <a:txBody>
                    <a:bodyPr/>
                    <a:lstStyle/>
                    <a:p>
                      <a:r>
                        <a:rPr lang="en-US" sz="1100" dirty="0"/>
                        <a:t>5 tiles</a:t>
                      </a:r>
                    </a:p>
                  </a:txBody>
                  <a:tcPr/>
                </a:tc>
                <a:extLst>
                  <a:ext uri="{0D108BD9-81ED-4DB2-BD59-A6C34878D82A}">
                    <a16:rowId xmlns:a16="http://schemas.microsoft.com/office/drawing/2014/main" val="4008408860"/>
                  </a:ext>
                </a:extLst>
              </a:tr>
              <a:tr h="313914">
                <a:tc>
                  <a:txBody>
                    <a:bodyPr/>
                    <a:lstStyle/>
                    <a:p>
                      <a:r>
                        <a:rPr lang="en-US" sz="1100" dirty="0"/>
                        <a:t>Trial 3</a:t>
                      </a:r>
                    </a:p>
                  </a:txBody>
                  <a:tcPr/>
                </a:tc>
                <a:tc>
                  <a:txBody>
                    <a:bodyPr/>
                    <a:lstStyle/>
                    <a:p>
                      <a:r>
                        <a:rPr lang="en-US" sz="1100" dirty="0"/>
                        <a:t>11 grams</a:t>
                      </a:r>
                    </a:p>
                  </a:txBody>
                  <a:tcPr/>
                </a:tc>
                <a:tc>
                  <a:txBody>
                    <a:bodyPr/>
                    <a:lstStyle/>
                    <a:p>
                      <a:r>
                        <a:rPr lang="en-US" sz="1100" dirty="0"/>
                        <a:t>6 grams</a:t>
                      </a:r>
                    </a:p>
                  </a:txBody>
                  <a:tcPr/>
                </a:tc>
                <a:tc>
                  <a:txBody>
                    <a:bodyPr/>
                    <a:lstStyle/>
                    <a:p>
                      <a:r>
                        <a:rPr lang="en-US" sz="1100" dirty="0"/>
                        <a:t>10 grams</a:t>
                      </a:r>
                    </a:p>
                  </a:txBody>
                  <a:tcPr/>
                </a:tc>
                <a:tc>
                  <a:txBody>
                    <a:bodyPr/>
                    <a:lstStyle/>
                    <a:p>
                      <a:r>
                        <a:rPr lang="en-US" sz="1100" dirty="0"/>
                        <a:t>34</a:t>
                      </a:r>
                    </a:p>
                  </a:txBody>
                  <a:tcPr/>
                </a:tc>
                <a:tc>
                  <a:txBody>
                    <a:bodyPr/>
                    <a:lstStyle/>
                    <a:p>
                      <a:r>
                        <a:rPr lang="en-US" sz="1100" dirty="0"/>
                        <a:t>13 grams</a:t>
                      </a:r>
                    </a:p>
                  </a:txBody>
                  <a:tcPr/>
                </a:tc>
                <a:tc>
                  <a:txBody>
                    <a:bodyPr/>
                    <a:lstStyle/>
                    <a:p>
                      <a:r>
                        <a:rPr lang="en-US" sz="1100" dirty="0"/>
                        <a:t>2 drops</a:t>
                      </a:r>
                    </a:p>
                  </a:txBody>
                  <a:tcPr/>
                </a:tc>
                <a:tc>
                  <a:txBody>
                    <a:bodyPr/>
                    <a:lstStyle/>
                    <a:p>
                      <a:r>
                        <a:rPr lang="en-US" sz="1100" dirty="0"/>
                        <a:t>40 grams</a:t>
                      </a:r>
                    </a:p>
                  </a:txBody>
                  <a:tcPr/>
                </a:tc>
                <a:tc>
                  <a:txBody>
                    <a:bodyPr/>
                    <a:lstStyle/>
                    <a:p>
                      <a:r>
                        <a:rPr lang="en-US" sz="1100" dirty="0"/>
                        <a:t>Paint cracking , glaze melted</a:t>
                      </a:r>
                    </a:p>
                  </a:txBody>
                  <a:tcPr/>
                </a:tc>
                <a:tc>
                  <a:txBody>
                    <a:bodyPr/>
                    <a:lstStyle/>
                    <a:p>
                      <a:r>
                        <a:rPr lang="en-US" sz="1100" dirty="0"/>
                        <a:t>5 tiles</a:t>
                      </a:r>
                    </a:p>
                  </a:txBody>
                  <a:tcPr/>
                </a:tc>
                <a:tc>
                  <a:txBody>
                    <a:bodyPr/>
                    <a:lstStyle/>
                    <a:p>
                      <a:r>
                        <a:rPr lang="en-US" sz="1100" dirty="0"/>
                        <a:t>5 tiles</a:t>
                      </a:r>
                    </a:p>
                  </a:txBody>
                  <a:tcPr/>
                </a:tc>
                <a:extLst>
                  <a:ext uri="{0D108BD9-81ED-4DB2-BD59-A6C34878D82A}">
                    <a16:rowId xmlns:a16="http://schemas.microsoft.com/office/drawing/2014/main" val="132121361"/>
                  </a:ext>
                </a:extLst>
              </a:tr>
              <a:tr h="313914">
                <a:tc>
                  <a:txBody>
                    <a:bodyPr/>
                    <a:lstStyle/>
                    <a:p>
                      <a:r>
                        <a:rPr lang="en-US" sz="1100" dirty="0"/>
                        <a:t>Trial 4</a:t>
                      </a:r>
                    </a:p>
                  </a:txBody>
                  <a:tcPr/>
                </a:tc>
                <a:tc>
                  <a:txBody>
                    <a:bodyPr/>
                    <a:lstStyle/>
                    <a:p>
                      <a:r>
                        <a:rPr lang="en-US" sz="1100" dirty="0"/>
                        <a:t>11 grams</a:t>
                      </a:r>
                    </a:p>
                  </a:txBody>
                  <a:tcPr/>
                </a:tc>
                <a:tc>
                  <a:txBody>
                    <a:bodyPr/>
                    <a:lstStyle/>
                    <a:p>
                      <a:r>
                        <a:rPr lang="en-US" sz="1100" dirty="0"/>
                        <a:t>8 grams</a:t>
                      </a:r>
                    </a:p>
                  </a:txBody>
                  <a:tcPr/>
                </a:tc>
                <a:tc>
                  <a:txBody>
                    <a:bodyPr/>
                    <a:lstStyle/>
                    <a:p>
                      <a:r>
                        <a:rPr lang="en-US" sz="1100" dirty="0"/>
                        <a:t>10 grams</a:t>
                      </a:r>
                    </a:p>
                  </a:txBody>
                  <a:tcPr/>
                </a:tc>
                <a:tc>
                  <a:txBody>
                    <a:bodyPr/>
                    <a:lstStyle/>
                    <a:p>
                      <a:r>
                        <a:rPr lang="en-US" sz="1100" dirty="0"/>
                        <a:t>34</a:t>
                      </a:r>
                    </a:p>
                  </a:txBody>
                  <a:tcPr/>
                </a:tc>
                <a:tc>
                  <a:txBody>
                    <a:bodyPr/>
                    <a:lstStyle/>
                    <a:p>
                      <a:r>
                        <a:rPr lang="en-US" sz="1100" dirty="0"/>
                        <a:t>13 grams</a:t>
                      </a:r>
                    </a:p>
                  </a:txBody>
                  <a:tcPr/>
                </a:tc>
                <a:tc>
                  <a:txBody>
                    <a:bodyPr/>
                    <a:lstStyle/>
                    <a:p>
                      <a:r>
                        <a:rPr lang="en-US" sz="1100" dirty="0"/>
                        <a:t>2 drops</a:t>
                      </a:r>
                    </a:p>
                  </a:txBody>
                  <a:tcPr/>
                </a:tc>
                <a:tc>
                  <a:txBody>
                    <a:bodyPr/>
                    <a:lstStyle/>
                    <a:p>
                      <a:r>
                        <a:rPr lang="en-US" sz="1100" dirty="0"/>
                        <a:t>42 grams</a:t>
                      </a:r>
                    </a:p>
                  </a:txBody>
                  <a:tcPr/>
                </a:tc>
                <a:tc>
                  <a:txBody>
                    <a:bodyPr/>
                    <a:lstStyle/>
                    <a:p>
                      <a:r>
                        <a:rPr lang="en-US" sz="1100" dirty="0"/>
                        <a:t>Paint pealing, light color, glaze melted</a:t>
                      </a:r>
                    </a:p>
                  </a:txBody>
                  <a:tcPr/>
                </a:tc>
                <a:tc>
                  <a:txBody>
                    <a:bodyPr/>
                    <a:lstStyle/>
                    <a:p>
                      <a:r>
                        <a:rPr lang="en-US" sz="1100" dirty="0"/>
                        <a:t>5 tiles</a:t>
                      </a:r>
                    </a:p>
                  </a:txBody>
                  <a:tcPr/>
                </a:tc>
                <a:tc>
                  <a:txBody>
                    <a:bodyPr/>
                    <a:lstStyle/>
                    <a:p>
                      <a:r>
                        <a:rPr lang="en-US" sz="1100" dirty="0"/>
                        <a:t>5 tiles</a:t>
                      </a:r>
                    </a:p>
                  </a:txBody>
                  <a:tcPr/>
                </a:tc>
                <a:extLst>
                  <a:ext uri="{0D108BD9-81ED-4DB2-BD59-A6C34878D82A}">
                    <a16:rowId xmlns:a16="http://schemas.microsoft.com/office/drawing/2014/main" val="837775962"/>
                  </a:ext>
                </a:extLst>
              </a:tr>
              <a:tr h="313914">
                <a:tc>
                  <a:txBody>
                    <a:bodyPr/>
                    <a:lstStyle/>
                    <a:p>
                      <a:r>
                        <a:rPr lang="en-US" sz="1100" dirty="0"/>
                        <a:t>Trial 5</a:t>
                      </a:r>
                    </a:p>
                  </a:txBody>
                  <a:tcPr/>
                </a:tc>
                <a:tc>
                  <a:txBody>
                    <a:bodyPr/>
                    <a:lstStyle/>
                    <a:p>
                      <a:r>
                        <a:rPr lang="en-US" sz="1100" dirty="0"/>
                        <a:t>11 grams</a:t>
                      </a:r>
                    </a:p>
                  </a:txBody>
                  <a:tcPr/>
                </a:tc>
                <a:tc>
                  <a:txBody>
                    <a:bodyPr/>
                    <a:lstStyle/>
                    <a:p>
                      <a:r>
                        <a:rPr lang="en-US" sz="1100" dirty="0"/>
                        <a:t>10 grams</a:t>
                      </a:r>
                    </a:p>
                  </a:txBody>
                  <a:tcPr/>
                </a:tc>
                <a:tc>
                  <a:txBody>
                    <a:bodyPr/>
                    <a:lstStyle/>
                    <a:p>
                      <a:r>
                        <a:rPr lang="en-US" sz="1100" dirty="0"/>
                        <a:t>10 grams</a:t>
                      </a:r>
                    </a:p>
                  </a:txBody>
                  <a:tcPr/>
                </a:tc>
                <a:tc>
                  <a:txBody>
                    <a:bodyPr/>
                    <a:lstStyle/>
                    <a:p>
                      <a:r>
                        <a:rPr lang="en-US" sz="1100" dirty="0"/>
                        <a:t>34</a:t>
                      </a:r>
                    </a:p>
                  </a:txBody>
                  <a:tcPr/>
                </a:tc>
                <a:tc>
                  <a:txBody>
                    <a:bodyPr/>
                    <a:lstStyle/>
                    <a:p>
                      <a:r>
                        <a:rPr lang="en-US" sz="1100" dirty="0"/>
                        <a:t>13 grams</a:t>
                      </a:r>
                    </a:p>
                  </a:txBody>
                  <a:tcPr/>
                </a:tc>
                <a:tc>
                  <a:txBody>
                    <a:bodyPr/>
                    <a:lstStyle/>
                    <a:p>
                      <a:r>
                        <a:rPr lang="en-US" sz="1100" dirty="0"/>
                        <a:t>2 drops</a:t>
                      </a:r>
                    </a:p>
                  </a:txBody>
                  <a:tcPr/>
                </a:tc>
                <a:tc>
                  <a:txBody>
                    <a:bodyPr/>
                    <a:lstStyle/>
                    <a:p>
                      <a:r>
                        <a:rPr lang="en-US" sz="1100" dirty="0"/>
                        <a:t>44 grams</a:t>
                      </a:r>
                    </a:p>
                  </a:txBody>
                  <a:tcPr/>
                </a:tc>
                <a:tc>
                  <a:txBody>
                    <a:bodyPr/>
                    <a:lstStyle/>
                    <a:p>
                      <a:r>
                        <a:rPr lang="en-US" sz="1100" dirty="0"/>
                        <a:t>Discoloration on paint, good color</a:t>
                      </a:r>
                    </a:p>
                  </a:txBody>
                  <a:tcPr/>
                </a:tc>
                <a:tc>
                  <a:txBody>
                    <a:bodyPr/>
                    <a:lstStyle/>
                    <a:p>
                      <a:r>
                        <a:rPr lang="en-US" sz="1100" dirty="0"/>
                        <a:t>5 tiles</a:t>
                      </a:r>
                    </a:p>
                  </a:txBody>
                  <a:tcPr/>
                </a:tc>
                <a:tc>
                  <a:txBody>
                    <a:bodyPr/>
                    <a:lstStyle/>
                    <a:p>
                      <a:r>
                        <a:rPr lang="en-US" sz="1100" dirty="0"/>
                        <a:t>5 tiles</a:t>
                      </a:r>
                    </a:p>
                  </a:txBody>
                  <a:tcPr/>
                </a:tc>
                <a:extLst>
                  <a:ext uri="{0D108BD9-81ED-4DB2-BD59-A6C34878D82A}">
                    <a16:rowId xmlns:a16="http://schemas.microsoft.com/office/drawing/2014/main" val="232228701"/>
                  </a:ext>
                </a:extLst>
              </a:tr>
              <a:tr h="313914">
                <a:tc>
                  <a:txBody>
                    <a:bodyPr/>
                    <a:lstStyle/>
                    <a:p>
                      <a:r>
                        <a:rPr lang="en-US" sz="1100" dirty="0"/>
                        <a:t>Trial 6</a:t>
                      </a:r>
                    </a:p>
                  </a:txBody>
                  <a:tcPr/>
                </a:tc>
                <a:tc>
                  <a:txBody>
                    <a:bodyPr/>
                    <a:lstStyle/>
                    <a:p>
                      <a:r>
                        <a:rPr lang="en-US" sz="1100" dirty="0"/>
                        <a:t>11 grams</a:t>
                      </a:r>
                    </a:p>
                  </a:txBody>
                  <a:tcPr/>
                </a:tc>
                <a:tc>
                  <a:txBody>
                    <a:bodyPr/>
                    <a:lstStyle/>
                    <a:p>
                      <a:r>
                        <a:rPr lang="en-US" sz="1100" dirty="0"/>
                        <a:t>12 grams</a:t>
                      </a:r>
                    </a:p>
                  </a:txBody>
                  <a:tcPr/>
                </a:tc>
                <a:tc>
                  <a:txBody>
                    <a:bodyPr/>
                    <a:lstStyle/>
                    <a:p>
                      <a:r>
                        <a:rPr lang="en-US" sz="1100" dirty="0"/>
                        <a:t>10 grams</a:t>
                      </a:r>
                    </a:p>
                  </a:txBody>
                  <a:tcPr/>
                </a:tc>
                <a:tc>
                  <a:txBody>
                    <a:bodyPr/>
                    <a:lstStyle/>
                    <a:p>
                      <a:r>
                        <a:rPr lang="en-US" sz="1100" dirty="0"/>
                        <a:t>34</a:t>
                      </a:r>
                    </a:p>
                  </a:txBody>
                  <a:tcPr/>
                </a:tc>
                <a:tc>
                  <a:txBody>
                    <a:bodyPr/>
                    <a:lstStyle/>
                    <a:p>
                      <a:r>
                        <a:rPr lang="en-US" sz="1100" dirty="0"/>
                        <a:t>13 grams</a:t>
                      </a:r>
                    </a:p>
                  </a:txBody>
                  <a:tcPr/>
                </a:tc>
                <a:tc>
                  <a:txBody>
                    <a:bodyPr/>
                    <a:lstStyle/>
                    <a:p>
                      <a:r>
                        <a:rPr lang="en-US" sz="1100" dirty="0"/>
                        <a:t>2 drops</a:t>
                      </a:r>
                    </a:p>
                  </a:txBody>
                  <a:tcPr/>
                </a:tc>
                <a:tc>
                  <a:txBody>
                    <a:bodyPr/>
                    <a:lstStyle/>
                    <a:p>
                      <a:r>
                        <a:rPr lang="en-US" sz="1100" dirty="0"/>
                        <a:t>46 grams</a:t>
                      </a:r>
                    </a:p>
                  </a:txBody>
                  <a:tcPr/>
                </a:tc>
                <a:tc>
                  <a:txBody>
                    <a:bodyPr/>
                    <a:lstStyle/>
                    <a:p>
                      <a:r>
                        <a:rPr lang="en-US" sz="1100" dirty="0"/>
                        <a:t>Paint chipping, too dark color, glaze melted</a:t>
                      </a:r>
                    </a:p>
                  </a:txBody>
                  <a:tcPr/>
                </a:tc>
                <a:tc>
                  <a:txBody>
                    <a:bodyPr/>
                    <a:lstStyle/>
                    <a:p>
                      <a:r>
                        <a:rPr lang="en-US" sz="1100" dirty="0"/>
                        <a:t>5 tiles</a:t>
                      </a:r>
                    </a:p>
                  </a:txBody>
                  <a:tcPr/>
                </a:tc>
                <a:tc>
                  <a:txBody>
                    <a:bodyPr/>
                    <a:lstStyle/>
                    <a:p>
                      <a:r>
                        <a:rPr lang="en-US" sz="1100" dirty="0"/>
                        <a:t>5 tiles</a:t>
                      </a:r>
                    </a:p>
                  </a:txBody>
                  <a:tcPr/>
                </a:tc>
                <a:extLst>
                  <a:ext uri="{0D108BD9-81ED-4DB2-BD59-A6C34878D82A}">
                    <a16:rowId xmlns:a16="http://schemas.microsoft.com/office/drawing/2014/main" val="3628102083"/>
                  </a:ext>
                </a:extLst>
              </a:tr>
              <a:tr h="313914">
                <a:tc>
                  <a:txBody>
                    <a:bodyPr/>
                    <a:lstStyle/>
                    <a:p>
                      <a:r>
                        <a:rPr lang="en-US" sz="1100" dirty="0"/>
                        <a:t>Trial 7</a:t>
                      </a:r>
                    </a:p>
                  </a:txBody>
                  <a:tcPr/>
                </a:tc>
                <a:tc>
                  <a:txBody>
                    <a:bodyPr/>
                    <a:lstStyle/>
                    <a:p>
                      <a:r>
                        <a:rPr lang="en-US" sz="1100" dirty="0"/>
                        <a:t>11 grams</a:t>
                      </a:r>
                    </a:p>
                  </a:txBody>
                  <a:tcPr/>
                </a:tc>
                <a:tc>
                  <a:txBody>
                    <a:bodyPr/>
                    <a:lstStyle/>
                    <a:p>
                      <a:r>
                        <a:rPr lang="en-US" sz="1100" dirty="0"/>
                        <a:t>10 grams</a:t>
                      </a:r>
                    </a:p>
                  </a:txBody>
                  <a:tcPr/>
                </a:tc>
                <a:tc>
                  <a:txBody>
                    <a:bodyPr/>
                    <a:lstStyle/>
                    <a:p>
                      <a:r>
                        <a:rPr lang="en-US" sz="1100" dirty="0"/>
                        <a:t>10 grams</a:t>
                      </a:r>
                    </a:p>
                  </a:txBody>
                  <a:tcPr/>
                </a:tc>
                <a:tc>
                  <a:txBody>
                    <a:bodyPr/>
                    <a:lstStyle/>
                    <a:p>
                      <a:r>
                        <a:rPr lang="en-US" sz="1100" dirty="0"/>
                        <a:t>34</a:t>
                      </a:r>
                    </a:p>
                  </a:txBody>
                  <a:tcPr/>
                </a:tc>
                <a:tc>
                  <a:txBody>
                    <a:bodyPr/>
                    <a:lstStyle/>
                    <a:p>
                      <a:r>
                        <a:rPr lang="en-US" sz="1100" dirty="0"/>
                        <a:t>12 grams</a:t>
                      </a:r>
                    </a:p>
                  </a:txBody>
                  <a:tcPr/>
                </a:tc>
                <a:tc>
                  <a:txBody>
                    <a:bodyPr/>
                    <a:lstStyle/>
                    <a:p>
                      <a:r>
                        <a:rPr lang="en-US" sz="1100" dirty="0"/>
                        <a:t>2 drops</a:t>
                      </a:r>
                    </a:p>
                  </a:txBody>
                  <a:tcPr/>
                </a:tc>
                <a:tc>
                  <a:txBody>
                    <a:bodyPr/>
                    <a:lstStyle/>
                    <a:p>
                      <a:r>
                        <a:rPr lang="en-US" sz="1100" dirty="0"/>
                        <a:t>43 grams</a:t>
                      </a:r>
                    </a:p>
                  </a:txBody>
                  <a:tcPr/>
                </a:tc>
                <a:tc>
                  <a:txBody>
                    <a:bodyPr/>
                    <a:lstStyle/>
                    <a:p>
                      <a:r>
                        <a:rPr lang="en-US" sz="1100" dirty="0"/>
                        <a:t>Thick paint, glaze melted</a:t>
                      </a:r>
                    </a:p>
                  </a:txBody>
                  <a:tcPr/>
                </a:tc>
                <a:tc>
                  <a:txBody>
                    <a:bodyPr/>
                    <a:lstStyle/>
                    <a:p>
                      <a:r>
                        <a:rPr lang="en-US" sz="1100" dirty="0"/>
                        <a:t>5 tiles</a:t>
                      </a:r>
                    </a:p>
                  </a:txBody>
                  <a:tcPr/>
                </a:tc>
                <a:tc>
                  <a:txBody>
                    <a:bodyPr/>
                    <a:lstStyle/>
                    <a:p>
                      <a:r>
                        <a:rPr lang="en-US" sz="1100" dirty="0"/>
                        <a:t>5 tiles</a:t>
                      </a:r>
                    </a:p>
                  </a:txBody>
                  <a:tcPr/>
                </a:tc>
                <a:extLst>
                  <a:ext uri="{0D108BD9-81ED-4DB2-BD59-A6C34878D82A}">
                    <a16:rowId xmlns:a16="http://schemas.microsoft.com/office/drawing/2014/main" val="3278589935"/>
                  </a:ext>
                </a:extLst>
              </a:tr>
              <a:tr h="313914">
                <a:tc>
                  <a:txBody>
                    <a:bodyPr/>
                    <a:lstStyle/>
                    <a:p>
                      <a:r>
                        <a:rPr lang="en-US" sz="1100" dirty="0"/>
                        <a:t>Trial 8</a:t>
                      </a:r>
                    </a:p>
                  </a:txBody>
                  <a:tcPr/>
                </a:tc>
                <a:tc>
                  <a:txBody>
                    <a:bodyPr/>
                    <a:lstStyle/>
                    <a:p>
                      <a:r>
                        <a:rPr lang="en-US" sz="1100" dirty="0"/>
                        <a:t>12 grams</a:t>
                      </a:r>
                    </a:p>
                  </a:txBody>
                  <a:tcPr/>
                </a:tc>
                <a:tc>
                  <a:txBody>
                    <a:bodyPr/>
                    <a:lstStyle/>
                    <a:p>
                      <a:r>
                        <a:rPr lang="en-US" sz="1100" dirty="0"/>
                        <a:t>10 grams</a:t>
                      </a:r>
                    </a:p>
                  </a:txBody>
                  <a:tcPr/>
                </a:tc>
                <a:tc>
                  <a:txBody>
                    <a:bodyPr/>
                    <a:lstStyle/>
                    <a:p>
                      <a:r>
                        <a:rPr lang="en-US" sz="1100" dirty="0"/>
                        <a:t>10 grams</a:t>
                      </a:r>
                    </a:p>
                  </a:txBody>
                  <a:tcPr/>
                </a:tc>
                <a:tc>
                  <a:txBody>
                    <a:bodyPr/>
                    <a:lstStyle/>
                    <a:p>
                      <a:r>
                        <a:rPr lang="en-US" sz="1100" dirty="0"/>
                        <a:t>34</a:t>
                      </a:r>
                    </a:p>
                  </a:txBody>
                  <a:tcPr/>
                </a:tc>
                <a:tc>
                  <a:txBody>
                    <a:bodyPr/>
                    <a:lstStyle/>
                    <a:p>
                      <a:r>
                        <a:rPr lang="en-US" sz="1100" dirty="0"/>
                        <a:t>12 grams</a:t>
                      </a:r>
                    </a:p>
                  </a:txBody>
                  <a:tcPr/>
                </a:tc>
                <a:tc>
                  <a:txBody>
                    <a:bodyPr/>
                    <a:lstStyle/>
                    <a:p>
                      <a:r>
                        <a:rPr lang="en-US" sz="1100" dirty="0"/>
                        <a:t>2 drops</a:t>
                      </a:r>
                    </a:p>
                  </a:txBody>
                  <a:tcPr/>
                </a:tc>
                <a:tc>
                  <a:txBody>
                    <a:bodyPr/>
                    <a:lstStyle/>
                    <a:p>
                      <a:r>
                        <a:rPr lang="en-US" sz="1100" dirty="0"/>
                        <a:t>44 grams</a:t>
                      </a:r>
                    </a:p>
                  </a:txBody>
                  <a:tcPr/>
                </a:tc>
                <a:tc>
                  <a:txBody>
                    <a:bodyPr/>
                    <a:lstStyle/>
                    <a:p>
                      <a:r>
                        <a:rPr lang="en-US" sz="1100" dirty="0"/>
                        <a:t>Watery paint, discoloration on paint</a:t>
                      </a:r>
                    </a:p>
                  </a:txBody>
                  <a:tcPr/>
                </a:tc>
                <a:tc>
                  <a:txBody>
                    <a:bodyPr/>
                    <a:lstStyle/>
                    <a:p>
                      <a:r>
                        <a:rPr lang="en-US" sz="1100" dirty="0"/>
                        <a:t>5 tiles</a:t>
                      </a:r>
                    </a:p>
                  </a:txBody>
                  <a:tcPr/>
                </a:tc>
                <a:tc>
                  <a:txBody>
                    <a:bodyPr/>
                    <a:lstStyle/>
                    <a:p>
                      <a:r>
                        <a:rPr lang="en-US" sz="1100" dirty="0"/>
                        <a:t>5 tiles</a:t>
                      </a:r>
                    </a:p>
                  </a:txBody>
                  <a:tcPr/>
                </a:tc>
                <a:extLst>
                  <a:ext uri="{0D108BD9-81ED-4DB2-BD59-A6C34878D82A}">
                    <a16:rowId xmlns:a16="http://schemas.microsoft.com/office/drawing/2014/main" val="2867282038"/>
                  </a:ext>
                </a:extLst>
              </a:tr>
              <a:tr h="313914">
                <a:tc>
                  <a:txBody>
                    <a:bodyPr/>
                    <a:lstStyle/>
                    <a:p>
                      <a:r>
                        <a:rPr lang="en-US" sz="1100" dirty="0"/>
                        <a:t>Trial 9</a:t>
                      </a:r>
                    </a:p>
                  </a:txBody>
                  <a:tcPr/>
                </a:tc>
                <a:tc>
                  <a:txBody>
                    <a:bodyPr/>
                    <a:lstStyle/>
                    <a:p>
                      <a:r>
                        <a:rPr lang="en-US" sz="1100" dirty="0"/>
                        <a:t>11 grams</a:t>
                      </a:r>
                    </a:p>
                  </a:txBody>
                  <a:tcPr/>
                </a:tc>
                <a:tc>
                  <a:txBody>
                    <a:bodyPr/>
                    <a:lstStyle/>
                    <a:p>
                      <a:r>
                        <a:rPr lang="en-US" sz="1100" dirty="0"/>
                        <a:t>10 grams</a:t>
                      </a:r>
                    </a:p>
                  </a:txBody>
                  <a:tcPr/>
                </a:tc>
                <a:tc>
                  <a:txBody>
                    <a:bodyPr/>
                    <a:lstStyle/>
                    <a:p>
                      <a:r>
                        <a:rPr lang="en-US" sz="1100" dirty="0"/>
                        <a:t>10 grams</a:t>
                      </a:r>
                    </a:p>
                  </a:txBody>
                  <a:tcPr/>
                </a:tc>
                <a:tc>
                  <a:txBody>
                    <a:bodyPr/>
                    <a:lstStyle/>
                    <a:p>
                      <a:r>
                        <a:rPr lang="en-US" sz="1100" dirty="0"/>
                        <a:t>34</a:t>
                      </a:r>
                    </a:p>
                  </a:txBody>
                  <a:tcPr/>
                </a:tc>
                <a:tc>
                  <a:txBody>
                    <a:bodyPr/>
                    <a:lstStyle/>
                    <a:p>
                      <a:r>
                        <a:rPr lang="en-US" sz="1100" dirty="0"/>
                        <a:t>11 grams</a:t>
                      </a:r>
                    </a:p>
                  </a:txBody>
                  <a:tcPr/>
                </a:tc>
                <a:tc>
                  <a:txBody>
                    <a:bodyPr/>
                    <a:lstStyle/>
                    <a:p>
                      <a:r>
                        <a:rPr lang="en-US" sz="1100" dirty="0"/>
                        <a:t>2 drops</a:t>
                      </a:r>
                    </a:p>
                  </a:txBody>
                  <a:tcPr/>
                </a:tc>
                <a:tc>
                  <a:txBody>
                    <a:bodyPr/>
                    <a:lstStyle/>
                    <a:p>
                      <a:r>
                        <a:rPr lang="en-US" sz="1100" dirty="0"/>
                        <a:t>42 grams</a:t>
                      </a:r>
                    </a:p>
                  </a:txBody>
                  <a:tcPr/>
                </a:tc>
                <a:tc>
                  <a:txBody>
                    <a:bodyPr/>
                    <a:lstStyle/>
                    <a:p>
                      <a:r>
                        <a:rPr lang="en-US" sz="1100" dirty="0"/>
                        <a:t>Good color, discoloration on paint</a:t>
                      </a:r>
                    </a:p>
                  </a:txBody>
                  <a:tcPr/>
                </a:tc>
                <a:tc>
                  <a:txBody>
                    <a:bodyPr/>
                    <a:lstStyle/>
                    <a:p>
                      <a:r>
                        <a:rPr lang="en-US" sz="1100" dirty="0"/>
                        <a:t>5 tiles</a:t>
                      </a:r>
                    </a:p>
                  </a:txBody>
                  <a:tcPr/>
                </a:tc>
                <a:tc>
                  <a:txBody>
                    <a:bodyPr/>
                    <a:lstStyle/>
                    <a:p>
                      <a:r>
                        <a:rPr lang="en-US" sz="1100" dirty="0"/>
                        <a:t>5 tiles</a:t>
                      </a:r>
                    </a:p>
                  </a:txBody>
                  <a:tcPr/>
                </a:tc>
                <a:extLst>
                  <a:ext uri="{0D108BD9-81ED-4DB2-BD59-A6C34878D82A}">
                    <a16:rowId xmlns:a16="http://schemas.microsoft.com/office/drawing/2014/main" val="2753941152"/>
                  </a:ext>
                </a:extLst>
              </a:tr>
              <a:tr h="313914">
                <a:tc>
                  <a:txBody>
                    <a:bodyPr/>
                    <a:lstStyle/>
                    <a:p>
                      <a:r>
                        <a:rPr lang="en-US" sz="1100" dirty="0">
                          <a:solidFill>
                            <a:schemeClr val="tx1"/>
                          </a:solidFill>
                          <a:highlight>
                            <a:srgbClr val="C0C0C0"/>
                          </a:highlight>
                        </a:rPr>
                        <a:t>Trial 10</a:t>
                      </a:r>
                    </a:p>
                  </a:txBody>
                  <a:tcPr/>
                </a:tc>
                <a:tc>
                  <a:txBody>
                    <a:bodyPr/>
                    <a:lstStyle/>
                    <a:p>
                      <a:r>
                        <a:rPr lang="en-US" sz="1100" dirty="0">
                          <a:solidFill>
                            <a:schemeClr val="tx1"/>
                          </a:solidFill>
                          <a:highlight>
                            <a:srgbClr val="C0C0C0"/>
                          </a:highlight>
                        </a:rPr>
                        <a:t>11 grams</a:t>
                      </a:r>
                    </a:p>
                  </a:txBody>
                  <a:tcPr/>
                </a:tc>
                <a:tc>
                  <a:txBody>
                    <a:bodyPr/>
                    <a:lstStyle/>
                    <a:p>
                      <a:r>
                        <a:rPr lang="en-US" sz="1100" dirty="0">
                          <a:solidFill>
                            <a:schemeClr val="tx1"/>
                          </a:solidFill>
                          <a:highlight>
                            <a:srgbClr val="C0C0C0"/>
                          </a:highlight>
                        </a:rPr>
                        <a:t>10 grams</a:t>
                      </a:r>
                    </a:p>
                  </a:txBody>
                  <a:tcPr/>
                </a:tc>
                <a:tc>
                  <a:txBody>
                    <a:bodyPr/>
                    <a:lstStyle/>
                    <a:p>
                      <a:r>
                        <a:rPr lang="en-US" sz="1100" dirty="0">
                          <a:solidFill>
                            <a:schemeClr val="tx1"/>
                          </a:solidFill>
                          <a:highlight>
                            <a:srgbClr val="C0C0C0"/>
                          </a:highlight>
                        </a:rPr>
                        <a:t>10 grams</a:t>
                      </a:r>
                    </a:p>
                  </a:txBody>
                  <a:tcPr/>
                </a:tc>
                <a:tc>
                  <a:txBody>
                    <a:bodyPr/>
                    <a:lstStyle/>
                    <a:p>
                      <a:r>
                        <a:rPr lang="en-US" sz="1100" dirty="0">
                          <a:solidFill>
                            <a:schemeClr val="tx1"/>
                          </a:solidFill>
                          <a:highlight>
                            <a:srgbClr val="C0C0C0"/>
                          </a:highlight>
                        </a:rPr>
                        <a:t>34</a:t>
                      </a:r>
                    </a:p>
                  </a:txBody>
                  <a:tcPr/>
                </a:tc>
                <a:tc>
                  <a:txBody>
                    <a:bodyPr/>
                    <a:lstStyle/>
                    <a:p>
                      <a:r>
                        <a:rPr lang="en-US" sz="1100" dirty="0">
                          <a:solidFill>
                            <a:schemeClr val="tx1"/>
                          </a:solidFill>
                          <a:highlight>
                            <a:srgbClr val="C0C0C0"/>
                          </a:highlight>
                        </a:rPr>
                        <a:t>10 grams</a:t>
                      </a:r>
                    </a:p>
                  </a:txBody>
                  <a:tcPr/>
                </a:tc>
                <a:tc>
                  <a:txBody>
                    <a:bodyPr/>
                    <a:lstStyle/>
                    <a:p>
                      <a:r>
                        <a:rPr lang="en-US" sz="1100" dirty="0">
                          <a:solidFill>
                            <a:schemeClr val="tx1"/>
                          </a:solidFill>
                          <a:highlight>
                            <a:srgbClr val="C0C0C0"/>
                          </a:highlight>
                        </a:rPr>
                        <a:t>2 drops</a:t>
                      </a:r>
                    </a:p>
                  </a:txBody>
                  <a:tcPr/>
                </a:tc>
                <a:tc>
                  <a:txBody>
                    <a:bodyPr/>
                    <a:lstStyle/>
                    <a:p>
                      <a:r>
                        <a:rPr lang="en-US" sz="1100" dirty="0">
                          <a:solidFill>
                            <a:schemeClr val="tx1"/>
                          </a:solidFill>
                          <a:highlight>
                            <a:srgbClr val="C0C0C0"/>
                          </a:highlight>
                        </a:rPr>
                        <a:t>41 grams</a:t>
                      </a:r>
                    </a:p>
                  </a:txBody>
                  <a:tcPr/>
                </a:tc>
                <a:tc>
                  <a:txBody>
                    <a:bodyPr/>
                    <a:lstStyle/>
                    <a:p>
                      <a:r>
                        <a:rPr lang="en-US" sz="1100" dirty="0">
                          <a:solidFill>
                            <a:schemeClr val="tx1"/>
                          </a:solidFill>
                          <a:highlight>
                            <a:srgbClr val="C0C0C0"/>
                          </a:highlight>
                        </a:rPr>
                        <a:t> None</a:t>
                      </a:r>
                    </a:p>
                  </a:txBody>
                  <a:tcPr/>
                </a:tc>
                <a:tc>
                  <a:txBody>
                    <a:bodyPr/>
                    <a:lstStyle/>
                    <a:p>
                      <a:r>
                        <a:rPr lang="en-US" sz="1100" dirty="0">
                          <a:solidFill>
                            <a:schemeClr val="tx1"/>
                          </a:solidFill>
                          <a:highlight>
                            <a:srgbClr val="C0C0C0"/>
                          </a:highlight>
                        </a:rPr>
                        <a:t>5 tiles</a:t>
                      </a:r>
                    </a:p>
                  </a:txBody>
                  <a:tcPr/>
                </a:tc>
                <a:tc>
                  <a:txBody>
                    <a:bodyPr/>
                    <a:lstStyle/>
                    <a:p>
                      <a:r>
                        <a:rPr lang="en-US" sz="1100" dirty="0">
                          <a:solidFill>
                            <a:schemeClr val="tx1"/>
                          </a:solidFill>
                          <a:highlight>
                            <a:srgbClr val="C0C0C0"/>
                          </a:highlight>
                        </a:rPr>
                        <a:t>0 tiles</a:t>
                      </a:r>
                    </a:p>
                  </a:txBody>
                  <a:tcPr/>
                </a:tc>
                <a:extLst>
                  <a:ext uri="{0D108BD9-81ED-4DB2-BD59-A6C34878D82A}">
                    <a16:rowId xmlns:a16="http://schemas.microsoft.com/office/drawing/2014/main" val="1958081789"/>
                  </a:ext>
                </a:extLst>
              </a:tr>
            </a:tbl>
          </a:graphicData>
        </a:graphic>
      </p:graphicFrame>
      <p:sp>
        <p:nvSpPr>
          <p:cNvPr id="5" name="TextBox 4">
            <a:extLst>
              <a:ext uri="{FF2B5EF4-FFF2-40B4-BE49-F238E27FC236}">
                <a16:creationId xmlns:a16="http://schemas.microsoft.com/office/drawing/2014/main" id="{5FDF0FE4-B415-165A-FE4B-E7E5B1FD2A93}"/>
              </a:ext>
            </a:extLst>
          </p:cNvPr>
          <p:cNvSpPr txBox="1"/>
          <p:nvPr/>
        </p:nvSpPr>
        <p:spPr>
          <a:xfrm>
            <a:off x="320957" y="5628735"/>
            <a:ext cx="10515599" cy="646331"/>
          </a:xfrm>
          <a:prstGeom prst="rect">
            <a:avLst/>
          </a:prstGeom>
          <a:noFill/>
        </p:spPr>
        <p:txBody>
          <a:bodyPr wrap="square" rtlCol="0">
            <a:spAutoFit/>
          </a:bodyPr>
          <a:lstStyle/>
          <a:p>
            <a:r>
              <a:rPr lang="en-US" sz="1200" dirty="0"/>
              <a:t>*Medium was held constant at 2 drops for all formulations to provide smooth brush application. The paint medium was not included in the gram batch weight.</a:t>
            </a:r>
          </a:p>
          <a:p>
            <a:r>
              <a:rPr lang="en-US" sz="1200" dirty="0"/>
              <a:t>*</a:t>
            </a:r>
            <a:r>
              <a:rPr lang="en-US" sz="1200" u="none" strike="noStrike" dirty="0">
                <a:effectLst/>
                <a:latin typeface="Google Sans"/>
              </a:rPr>
              <a:t>Glaze Baumé</a:t>
            </a:r>
            <a:r>
              <a:rPr lang="en-US" sz="1200" dirty="0"/>
              <a:t> is not included in the ratio, but maintaining the </a:t>
            </a:r>
            <a:r>
              <a:rPr lang="en-US" sz="1200" u="none" strike="noStrike" dirty="0">
                <a:effectLst/>
                <a:latin typeface="Google Sans"/>
              </a:rPr>
              <a:t>correct Baumé level</a:t>
            </a:r>
            <a:r>
              <a:rPr lang="en-US" sz="1200" dirty="0"/>
              <a:t> is crucial for a good glaze combination. </a:t>
            </a:r>
          </a:p>
          <a:p>
            <a:endParaRPr lang="en-US" sz="1200" dirty="0"/>
          </a:p>
        </p:txBody>
      </p:sp>
      <p:sp>
        <p:nvSpPr>
          <p:cNvPr id="7" name="TextBox 6">
            <a:extLst>
              <a:ext uri="{FF2B5EF4-FFF2-40B4-BE49-F238E27FC236}">
                <a16:creationId xmlns:a16="http://schemas.microsoft.com/office/drawing/2014/main" id="{F869DD6D-FABF-1452-14C9-033613CCDD78}"/>
              </a:ext>
            </a:extLst>
          </p:cNvPr>
          <p:cNvSpPr txBox="1"/>
          <p:nvPr/>
        </p:nvSpPr>
        <p:spPr>
          <a:xfrm>
            <a:off x="0" y="6451094"/>
            <a:ext cx="1191829" cy="369332"/>
          </a:xfrm>
          <a:prstGeom prst="rect">
            <a:avLst/>
          </a:prstGeom>
          <a:noFill/>
        </p:spPr>
        <p:txBody>
          <a:bodyPr wrap="square" rtlCol="0">
            <a:spAutoFit/>
          </a:bodyPr>
          <a:lstStyle/>
          <a:p>
            <a:r>
              <a:rPr lang="en-US" b="1" dirty="0">
                <a:solidFill>
                  <a:schemeClr val="accent1"/>
                </a:solidFill>
              </a:rPr>
              <a:t>ANALYZE</a:t>
            </a:r>
          </a:p>
        </p:txBody>
      </p:sp>
    </p:spTree>
    <p:extLst>
      <p:ext uri="{BB962C8B-B14F-4D97-AF65-F5344CB8AC3E}">
        <p14:creationId xmlns:p14="http://schemas.microsoft.com/office/powerpoint/2010/main" val="3672118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5415C-C476-9D10-293A-A3E27C9ED2FA}"/>
              </a:ext>
            </a:extLst>
          </p:cNvPr>
          <p:cNvSpPr>
            <a:spLocks noGrp="1"/>
          </p:cNvSpPr>
          <p:nvPr>
            <p:ph type="title"/>
          </p:nvPr>
        </p:nvSpPr>
        <p:spPr>
          <a:xfrm>
            <a:off x="838200" y="261370"/>
            <a:ext cx="10515600" cy="1325563"/>
          </a:xfrm>
        </p:spPr>
        <p:txBody>
          <a:bodyPr/>
          <a:lstStyle/>
          <a:p>
            <a:r>
              <a:rPr lang="en-US" b="1" dirty="0"/>
              <a:t>Analysis - Findings</a:t>
            </a:r>
          </a:p>
        </p:txBody>
      </p:sp>
      <p:sp>
        <p:nvSpPr>
          <p:cNvPr id="4" name="TextBox 3">
            <a:extLst>
              <a:ext uri="{FF2B5EF4-FFF2-40B4-BE49-F238E27FC236}">
                <a16:creationId xmlns:a16="http://schemas.microsoft.com/office/drawing/2014/main" id="{32B3C284-C598-4A41-D6E8-57FA7CCF90E8}"/>
              </a:ext>
            </a:extLst>
          </p:cNvPr>
          <p:cNvSpPr txBox="1"/>
          <p:nvPr/>
        </p:nvSpPr>
        <p:spPr>
          <a:xfrm>
            <a:off x="0" y="6351221"/>
            <a:ext cx="1191829" cy="369332"/>
          </a:xfrm>
          <a:prstGeom prst="rect">
            <a:avLst/>
          </a:prstGeom>
          <a:noFill/>
        </p:spPr>
        <p:txBody>
          <a:bodyPr wrap="square" rtlCol="0">
            <a:spAutoFit/>
          </a:bodyPr>
          <a:lstStyle/>
          <a:p>
            <a:r>
              <a:rPr lang="en-US" b="1" dirty="0">
                <a:solidFill>
                  <a:schemeClr val="accent1"/>
                </a:solidFill>
              </a:rPr>
              <a:t>ANALYZE</a:t>
            </a:r>
          </a:p>
        </p:txBody>
      </p:sp>
      <p:graphicFrame>
        <p:nvGraphicFramePr>
          <p:cNvPr id="6" name="Table 5">
            <a:extLst>
              <a:ext uri="{FF2B5EF4-FFF2-40B4-BE49-F238E27FC236}">
                <a16:creationId xmlns:a16="http://schemas.microsoft.com/office/drawing/2014/main" id="{2329B6E9-0DDD-BF42-9D97-E40180547524}"/>
              </a:ext>
            </a:extLst>
          </p:cNvPr>
          <p:cNvGraphicFramePr>
            <a:graphicFrameLocks noGrp="1"/>
          </p:cNvGraphicFramePr>
          <p:nvPr>
            <p:extLst>
              <p:ext uri="{D42A27DB-BD31-4B8C-83A1-F6EECF244321}">
                <p14:modId xmlns:p14="http://schemas.microsoft.com/office/powerpoint/2010/main" val="2779559733"/>
              </p:ext>
            </p:extLst>
          </p:nvPr>
        </p:nvGraphicFramePr>
        <p:xfrm>
          <a:off x="838200" y="1373448"/>
          <a:ext cx="10209246" cy="4528477"/>
        </p:xfrm>
        <a:graphic>
          <a:graphicData uri="http://schemas.openxmlformats.org/drawingml/2006/table">
            <a:tbl>
              <a:tblPr firstRow="1" bandRow="1">
                <a:tableStyleId>{5C22544A-7EE6-4342-B048-85BDC9FD1C3A}</a:tableStyleId>
              </a:tblPr>
              <a:tblGrid>
                <a:gridCol w="1942322">
                  <a:extLst>
                    <a:ext uri="{9D8B030D-6E8A-4147-A177-3AD203B41FA5}">
                      <a16:colId xmlns:a16="http://schemas.microsoft.com/office/drawing/2014/main" val="1692851679"/>
                    </a:ext>
                  </a:extLst>
                </a:gridCol>
                <a:gridCol w="4217437">
                  <a:extLst>
                    <a:ext uri="{9D8B030D-6E8A-4147-A177-3AD203B41FA5}">
                      <a16:colId xmlns:a16="http://schemas.microsoft.com/office/drawing/2014/main" val="3094120363"/>
                    </a:ext>
                  </a:extLst>
                </a:gridCol>
                <a:gridCol w="4049487">
                  <a:extLst>
                    <a:ext uri="{9D8B030D-6E8A-4147-A177-3AD203B41FA5}">
                      <a16:colId xmlns:a16="http://schemas.microsoft.com/office/drawing/2014/main" val="1224291912"/>
                    </a:ext>
                  </a:extLst>
                </a:gridCol>
              </a:tblGrid>
              <a:tr h="286138">
                <a:tc>
                  <a:txBody>
                    <a:bodyPr/>
                    <a:lstStyle/>
                    <a:p>
                      <a:r>
                        <a:rPr lang="en-US" dirty="0"/>
                        <a:t>Ingredient</a:t>
                      </a:r>
                    </a:p>
                  </a:txBody>
                  <a:tcPr/>
                </a:tc>
                <a:tc>
                  <a:txBody>
                    <a:bodyPr/>
                    <a:lstStyle/>
                    <a:p>
                      <a:r>
                        <a:rPr lang="en-US" dirty="0"/>
                        <a:t>Finding</a:t>
                      </a:r>
                    </a:p>
                  </a:txBody>
                  <a:tcPr/>
                </a:tc>
                <a:tc>
                  <a:txBody>
                    <a:bodyPr/>
                    <a:lstStyle/>
                    <a:p>
                      <a:r>
                        <a:rPr lang="en-US" dirty="0"/>
                        <a:t>Impact on Paint Quality</a:t>
                      </a:r>
                    </a:p>
                  </a:txBody>
                  <a:tcPr/>
                </a:tc>
                <a:extLst>
                  <a:ext uri="{0D108BD9-81ED-4DB2-BD59-A6C34878D82A}">
                    <a16:rowId xmlns:a16="http://schemas.microsoft.com/office/drawing/2014/main" val="4074200462"/>
                  </a:ext>
                </a:extLst>
              </a:tr>
              <a:tr h="917209">
                <a:tc>
                  <a:txBody>
                    <a:bodyPr/>
                    <a:lstStyle/>
                    <a:p>
                      <a:r>
                        <a:rPr lang="en-US" dirty="0"/>
                        <a:t>Pigment</a:t>
                      </a:r>
                    </a:p>
                  </a:txBody>
                  <a:tcPr/>
                </a:tc>
                <a:tc>
                  <a:txBody>
                    <a:bodyPr/>
                    <a:lstStyle/>
                    <a:p>
                      <a:r>
                        <a:rPr lang="en-US" dirty="0"/>
                        <a:t>6-8 g provided insufficient coverage; 12 g was excessive; 10 g performed best.</a:t>
                      </a:r>
                    </a:p>
                  </a:txBody>
                  <a:tcPr/>
                </a:tc>
                <a:tc>
                  <a:txBody>
                    <a:bodyPr/>
                    <a:lstStyle/>
                    <a:p>
                      <a:r>
                        <a:rPr lang="en-US" dirty="0"/>
                        <a:t>Pigment concentration affected paint coverage and defect formation.</a:t>
                      </a:r>
                    </a:p>
                  </a:txBody>
                  <a:tcPr/>
                </a:tc>
                <a:extLst>
                  <a:ext uri="{0D108BD9-81ED-4DB2-BD59-A6C34878D82A}">
                    <a16:rowId xmlns:a16="http://schemas.microsoft.com/office/drawing/2014/main" val="2077312478"/>
                  </a:ext>
                </a:extLst>
              </a:tr>
              <a:tr h="705545">
                <a:tc>
                  <a:txBody>
                    <a:bodyPr/>
                    <a:lstStyle/>
                    <a:p>
                      <a:r>
                        <a:rPr lang="en-US" dirty="0"/>
                        <a:t>Glaze</a:t>
                      </a:r>
                    </a:p>
                  </a:txBody>
                  <a:tcPr/>
                </a:tc>
                <a:tc>
                  <a:txBody>
                    <a:bodyPr/>
                    <a:lstStyle/>
                    <a:p>
                      <a:r>
                        <a:rPr lang="en-US" dirty="0"/>
                        <a:t>Baume 37 was to concentrated; Baum 34 produced the best results.</a:t>
                      </a:r>
                    </a:p>
                  </a:txBody>
                  <a:tcPr/>
                </a:tc>
                <a:tc>
                  <a:txBody>
                    <a:bodyPr/>
                    <a:lstStyle/>
                    <a:p>
                      <a:r>
                        <a:rPr lang="en-US" dirty="0"/>
                        <a:t>Proper glaze concentration improved paint stability after firing.</a:t>
                      </a:r>
                    </a:p>
                  </a:txBody>
                  <a:tcPr/>
                </a:tc>
                <a:extLst>
                  <a:ext uri="{0D108BD9-81ED-4DB2-BD59-A6C34878D82A}">
                    <a16:rowId xmlns:a16="http://schemas.microsoft.com/office/drawing/2014/main" val="1496528504"/>
                  </a:ext>
                </a:extLst>
              </a:tr>
              <a:tr h="917209">
                <a:tc>
                  <a:txBody>
                    <a:bodyPr/>
                    <a:lstStyle/>
                    <a:p>
                      <a:r>
                        <a:rPr lang="en-US" dirty="0"/>
                        <a:t>Clay</a:t>
                      </a:r>
                    </a:p>
                  </a:txBody>
                  <a:tcPr/>
                </a:tc>
                <a:tc>
                  <a:txBody>
                    <a:bodyPr/>
                    <a:lstStyle/>
                    <a:p>
                      <a:r>
                        <a:rPr lang="en-US" dirty="0"/>
                        <a:t>13 g produced a thick cloudy result; 10 g provided a smoother consistency.</a:t>
                      </a:r>
                    </a:p>
                  </a:txBody>
                  <a:tcPr/>
                </a:tc>
                <a:tc>
                  <a:txBody>
                    <a:bodyPr/>
                    <a:lstStyle/>
                    <a:p>
                      <a:r>
                        <a:rPr lang="en-US" dirty="0"/>
                        <a:t>Excess clay negatively affected paint consistency and finish.</a:t>
                      </a:r>
                    </a:p>
                  </a:txBody>
                  <a:tcPr/>
                </a:tc>
                <a:extLst>
                  <a:ext uri="{0D108BD9-81ED-4DB2-BD59-A6C34878D82A}">
                    <a16:rowId xmlns:a16="http://schemas.microsoft.com/office/drawing/2014/main" val="2942977817"/>
                  </a:ext>
                </a:extLst>
              </a:tr>
              <a:tr h="7055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Water</a:t>
                      </a:r>
                    </a:p>
                  </a:txBody>
                  <a:tcPr/>
                </a:tc>
                <a:tc>
                  <a:txBody>
                    <a:bodyPr/>
                    <a:lstStyle/>
                    <a:p>
                      <a:r>
                        <a:rPr lang="en-US" dirty="0"/>
                        <a:t>12 g made the paint thin, watery; 11 g provided good workability.</a:t>
                      </a:r>
                    </a:p>
                  </a:txBody>
                  <a:tcPr/>
                </a:tc>
                <a:tc>
                  <a:txBody>
                    <a:bodyPr/>
                    <a:lstStyle/>
                    <a:p>
                      <a:r>
                        <a:rPr lang="en-US" dirty="0"/>
                        <a:t>Water content influenced paint application and consistency.</a:t>
                      </a:r>
                    </a:p>
                  </a:txBody>
                  <a:tcPr/>
                </a:tc>
                <a:extLst>
                  <a:ext uri="{0D108BD9-81ED-4DB2-BD59-A6C34878D82A}">
                    <a16:rowId xmlns:a16="http://schemas.microsoft.com/office/drawing/2014/main" val="2156916488"/>
                  </a:ext>
                </a:extLst>
              </a:tr>
              <a:tr h="917209">
                <a:tc>
                  <a:txBody>
                    <a:bodyPr/>
                    <a:lstStyle/>
                    <a:p>
                      <a:r>
                        <a:rPr lang="en-US" dirty="0"/>
                        <a:t>Paint Medium</a:t>
                      </a:r>
                    </a:p>
                  </a:txBody>
                  <a:tcPr/>
                </a:tc>
                <a:tc>
                  <a:txBody>
                    <a:bodyPr/>
                    <a:lstStyle/>
                    <a:p>
                      <a:r>
                        <a:rPr lang="en-US" dirty="0"/>
                        <a:t>Held constant at 2 drops in all trials.(recommended amount)</a:t>
                      </a:r>
                    </a:p>
                  </a:txBody>
                  <a:tcPr/>
                </a:tc>
                <a:tc>
                  <a:txBody>
                    <a:bodyPr/>
                    <a:lstStyle/>
                    <a:p>
                      <a:r>
                        <a:rPr lang="en-US" dirty="0"/>
                        <a:t>Controlled variable: improved paint workability and was not investigated as a cause.</a:t>
                      </a:r>
                    </a:p>
                  </a:txBody>
                  <a:tcPr/>
                </a:tc>
                <a:extLst>
                  <a:ext uri="{0D108BD9-81ED-4DB2-BD59-A6C34878D82A}">
                    <a16:rowId xmlns:a16="http://schemas.microsoft.com/office/drawing/2014/main" val="2672665779"/>
                  </a:ext>
                </a:extLst>
              </a:tr>
            </a:tbl>
          </a:graphicData>
        </a:graphic>
      </p:graphicFrame>
    </p:spTree>
    <p:extLst>
      <p:ext uri="{BB962C8B-B14F-4D97-AF65-F5344CB8AC3E}">
        <p14:creationId xmlns:p14="http://schemas.microsoft.com/office/powerpoint/2010/main" val="3609694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747DC-2147-3E8E-0C96-136360366E98}"/>
              </a:ext>
            </a:extLst>
          </p:cNvPr>
          <p:cNvSpPr>
            <a:spLocks noGrp="1"/>
          </p:cNvSpPr>
          <p:nvPr>
            <p:ph type="title"/>
          </p:nvPr>
        </p:nvSpPr>
        <p:spPr/>
        <p:txBody>
          <a:bodyPr/>
          <a:lstStyle/>
          <a:p>
            <a:r>
              <a:rPr lang="en-US" b="1" dirty="0"/>
              <a:t>Analysis - Summary</a:t>
            </a:r>
          </a:p>
        </p:txBody>
      </p:sp>
      <p:sp>
        <p:nvSpPr>
          <p:cNvPr id="3" name="Content Placeholder 2">
            <a:extLst>
              <a:ext uri="{FF2B5EF4-FFF2-40B4-BE49-F238E27FC236}">
                <a16:creationId xmlns:a16="http://schemas.microsoft.com/office/drawing/2014/main" id="{7FECB027-15FA-3FC2-E900-E2CBE030B25C}"/>
              </a:ext>
            </a:extLst>
          </p:cNvPr>
          <p:cNvSpPr>
            <a:spLocks noGrp="1"/>
          </p:cNvSpPr>
          <p:nvPr>
            <p:ph idx="1"/>
          </p:nvPr>
        </p:nvSpPr>
        <p:spPr>
          <a:xfrm>
            <a:off x="614266" y="1871405"/>
            <a:ext cx="9724053" cy="3484368"/>
          </a:xfrm>
        </p:spPr>
        <p:txBody>
          <a:bodyPr>
            <a:normAutofit lnSpcReduction="10000"/>
          </a:bodyPr>
          <a:lstStyle/>
          <a:p>
            <a:pPr>
              <a:buFont typeface="Arial" panose="020B0604020202020204" pitchFamily="34" charset="0"/>
              <a:buChar char="•"/>
            </a:pPr>
            <a:r>
              <a:rPr lang="en-US" dirty="0"/>
              <a:t>Ingredient ratios significantly influenced paint performance after firing. </a:t>
            </a:r>
          </a:p>
          <a:p>
            <a:pPr>
              <a:buFont typeface="Arial" panose="020B0604020202020204" pitchFamily="34" charset="0"/>
              <a:buChar char="•"/>
            </a:pPr>
            <a:r>
              <a:rPr lang="en-US" dirty="0"/>
              <a:t>The original recommended formulation did not produce a stable paint mixture for this production process.</a:t>
            </a:r>
          </a:p>
          <a:p>
            <a:pPr>
              <a:buFont typeface="Arial" panose="020B0604020202020204" pitchFamily="34" charset="0"/>
              <a:buChar char="•"/>
            </a:pPr>
            <a:r>
              <a:rPr lang="en-US" dirty="0"/>
              <a:t> Testing identified the standard ratios for pigment, glaze, clay, and water, which were used to develop an improved formula.</a:t>
            </a:r>
          </a:p>
          <a:p>
            <a:pPr>
              <a:buFont typeface="Arial" panose="020B0604020202020204" pitchFamily="34" charset="0"/>
              <a:buChar char="•"/>
            </a:pPr>
            <a:r>
              <a:rPr lang="en-US" dirty="0"/>
              <a:t>Additional testing showed that multilayer applications required a thinner paint consistency to prevent defects.</a:t>
            </a:r>
          </a:p>
        </p:txBody>
      </p:sp>
      <p:sp>
        <p:nvSpPr>
          <p:cNvPr id="4" name="TextBox 3">
            <a:extLst>
              <a:ext uri="{FF2B5EF4-FFF2-40B4-BE49-F238E27FC236}">
                <a16:creationId xmlns:a16="http://schemas.microsoft.com/office/drawing/2014/main" id="{9948D7E0-6F13-DD62-C9D3-692C3074100A}"/>
              </a:ext>
            </a:extLst>
          </p:cNvPr>
          <p:cNvSpPr txBox="1"/>
          <p:nvPr/>
        </p:nvSpPr>
        <p:spPr>
          <a:xfrm>
            <a:off x="18351" y="6308209"/>
            <a:ext cx="1191829" cy="369332"/>
          </a:xfrm>
          <a:prstGeom prst="rect">
            <a:avLst/>
          </a:prstGeom>
          <a:noFill/>
        </p:spPr>
        <p:txBody>
          <a:bodyPr wrap="square" rtlCol="0">
            <a:spAutoFit/>
          </a:bodyPr>
          <a:lstStyle/>
          <a:p>
            <a:r>
              <a:rPr lang="en-US" b="1" dirty="0">
                <a:solidFill>
                  <a:schemeClr val="accent1"/>
                </a:solidFill>
              </a:rPr>
              <a:t>ANALYZE</a:t>
            </a:r>
          </a:p>
        </p:txBody>
      </p:sp>
    </p:spTree>
    <p:extLst>
      <p:ext uri="{BB962C8B-B14F-4D97-AF65-F5344CB8AC3E}">
        <p14:creationId xmlns:p14="http://schemas.microsoft.com/office/powerpoint/2010/main" val="10151506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EED52-63E2-9827-AA5B-B9C2AF109782}"/>
              </a:ext>
            </a:extLst>
          </p:cNvPr>
          <p:cNvSpPr>
            <a:spLocks noGrp="1"/>
          </p:cNvSpPr>
          <p:nvPr>
            <p:ph type="title"/>
          </p:nvPr>
        </p:nvSpPr>
        <p:spPr/>
        <p:txBody>
          <a:bodyPr/>
          <a:lstStyle/>
          <a:p>
            <a:r>
              <a:rPr lang="en-US" b="1" dirty="0"/>
              <a:t>Improve  – Optimized Formula Validation</a:t>
            </a:r>
            <a:endParaRPr lang="en-US" dirty="0"/>
          </a:p>
        </p:txBody>
      </p:sp>
      <p:sp>
        <p:nvSpPr>
          <p:cNvPr id="4" name="TextBox 3">
            <a:extLst>
              <a:ext uri="{FF2B5EF4-FFF2-40B4-BE49-F238E27FC236}">
                <a16:creationId xmlns:a16="http://schemas.microsoft.com/office/drawing/2014/main" id="{641335E5-A413-23AC-95EF-3BC8F4979BD6}"/>
              </a:ext>
            </a:extLst>
          </p:cNvPr>
          <p:cNvSpPr txBox="1"/>
          <p:nvPr/>
        </p:nvSpPr>
        <p:spPr>
          <a:xfrm>
            <a:off x="18351" y="6308209"/>
            <a:ext cx="1191829" cy="369332"/>
          </a:xfrm>
          <a:prstGeom prst="rect">
            <a:avLst/>
          </a:prstGeom>
          <a:noFill/>
        </p:spPr>
        <p:txBody>
          <a:bodyPr wrap="square" rtlCol="0">
            <a:spAutoFit/>
          </a:bodyPr>
          <a:lstStyle/>
          <a:p>
            <a:r>
              <a:rPr lang="en-US" b="1" dirty="0">
                <a:solidFill>
                  <a:schemeClr val="accent1"/>
                </a:solidFill>
              </a:rPr>
              <a:t>IMPROVE</a:t>
            </a:r>
          </a:p>
        </p:txBody>
      </p:sp>
      <p:graphicFrame>
        <p:nvGraphicFramePr>
          <p:cNvPr id="5" name="Table 4">
            <a:extLst>
              <a:ext uri="{FF2B5EF4-FFF2-40B4-BE49-F238E27FC236}">
                <a16:creationId xmlns:a16="http://schemas.microsoft.com/office/drawing/2014/main" id="{8CB3DFC5-BDF0-BC09-ED1B-02C132359BAC}"/>
              </a:ext>
            </a:extLst>
          </p:cNvPr>
          <p:cNvGraphicFramePr>
            <a:graphicFrameLocks noGrp="1"/>
          </p:cNvGraphicFramePr>
          <p:nvPr>
            <p:extLst>
              <p:ext uri="{D42A27DB-BD31-4B8C-83A1-F6EECF244321}">
                <p14:modId xmlns:p14="http://schemas.microsoft.com/office/powerpoint/2010/main" val="1478119051"/>
              </p:ext>
            </p:extLst>
          </p:nvPr>
        </p:nvGraphicFramePr>
        <p:xfrm>
          <a:off x="205275" y="1622701"/>
          <a:ext cx="11699511" cy="3687324"/>
        </p:xfrm>
        <a:graphic>
          <a:graphicData uri="http://schemas.openxmlformats.org/drawingml/2006/table">
            <a:tbl>
              <a:tblPr firstRow="1" bandRow="1">
                <a:tableStyleId>{5C22544A-7EE6-4342-B048-85BDC9FD1C3A}</a:tableStyleId>
              </a:tblPr>
              <a:tblGrid>
                <a:gridCol w="1671359">
                  <a:extLst>
                    <a:ext uri="{9D8B030D-6E8A-4147-A177-3AD203B41FA5}">
                      <a16:colId xmlns:a16="http://schemas.microsoft.com/office/drawing/2014/main" val="2980540498"/>
                    </a:ext>
                  </a:extLst>
                </a:gridCol>
                <a:gridCol w="1816135">
                  <a:extLst>
                    <a:ext uri="{9D8B030D-6E8A-4147-A177-3AD203B41FA5}">
                      <a16:colId xmlns:a16="http://schemas.microsoft.com/office/drawing/2014/main" val="2402716178"/>
                    </a:ext>
                  </a:extLst>
                </a:gridCol>
                <a:gridCol w="1318846">
                  <a:extLst>
                    <a:ext uri="{9D8B030D-6E8A-4147-A177-3AD203B41FA5}">
                      <a16:colId xmlns:a16="http://schemas.microsoft.com/office/drawing/2014/main" val="1197118280"/>
                    </a:ext>
                  </a:extLst>
                </a:gridCol>
                <a:gridCol w="1318847">
                  <a:extLst>
                    <a:ext uri="{9D8B030D-6E8A-4147-A177-3AD203B41FA5}">
                      <a16:colId xmlns:a16="http://schemas.microsoft.com/office/drawing/2014/main" val="1538999993"/>
                    </a:ext>
                  </a:extLst>
                </a:gridCol>
                <a:gridCol w="1248507">
                  <a:extLst>
                    <a:ext uri="{9D8B030D-6E8A-4147-A177-3AD203B41FA5}">
                      <a16:colId xmlns:a16="http://schemas.microsoft.com/office/drawing/2014/main" val="3779961207"/>
                    </a:ext>
                  </a:extLst>
                </a:gridCol>
                <a:gridCol w="1652954">
                  <a:extLst>
                    <a:ext uri="{9D8B030D-6E8A-4147-A177-3AD203B41FA5}">
                      <a16:colId xmlns:a16="http://schemas.microsoft.com/office/drawing/2014/main" val="4255835888"/>
                    </a:ext>
                  </a:extLst>
                </a:gridCol>
                <a:gridCol w="2672863">
                  <a:extLst>
                    <a:ext uri="{9D8B030D-6E8A-4147-A177-3AD203B41FA5}">
                      <a16:colId xmlns:a16="http://schemas.microsoft.com/office/drawing/2014/main" val="1085611388"/>
                    </a:ext>
                  </a:extLst>
                </a:gridCol>
              </a:tblGrid>
              <a:tr h="1035564">
                <a:tc>
                  <a:txBody>
                    <a:bodyPr/>
                    <a:lstStyle/>
                    <a:p>
                      <a:r>
                        <a:rPr lang="en-US" dirty="0"/>
                        <a:t>Test</a:t>
                      </a:r>
                    </a:p>
                  </a:txBody>
                  <a:tcPr/>
                </a:tc>
                <a:tc>
                  <a:txBody>
                    <a:bodyPr/>
                    <a:lstStyle/>
                    <a:p>
                      <a:r>
                        <a:rPr lang="en-US" dirty="0"/>
                        <a:t>Formula Used</a:t>
                      </a:r>
                    </a:p>
                  </a:txBody>
                  <a:tcPr/>
                </a:tc>
                <a:tc>
                  <a:txBody>
                    <a:bodyPr/>
                    <a:lstStyle/>
                    <a:p>
                      <a:r>
                        <a:rPr lang="en-US" dirty="0"/>
                        <a:t>Total number of pieces</a:t>
                      </a:r>
                    </a:p>
                  </a:txBody>
                  <a:tcPr/>
                </a:tc>
                <a:tc>
                  <a:txBody>
                    <a:bodyPr/>
                    <a:lstStyle/>
                    <a:p>
                      <a:r>
                        <a:rPr lang="en-US" dirty="0"/>
                        <a:t>Single layer painting</a:t>
                      </a:r>
                    </a:p>
                  </a:txBody>
                  <a:tcPr/>
                </a:tc>
                <a:tc>
                  <a:txBody>
                    <a:bodyPr/>
                    <a:lstStyle/>
                    <a:p>
                      <a:r>
                        <a:rPr lang="en-US" dirty="0"/>
                        <a:t>Multilayer painting</a:t>
                      </a:r>
                    </a:p>
                  </a:txBody>
                  <a:tcPr/>
                </a:tc>
                <a:tc>
                  <a:txBody>
                    <a:bodyPr/>
                    <a:lstStyle/>
                    <a:p>
                      <a:r>
                        <a:rPr lang="en-US" dirty="0"/>
                        <a:t>Total number of defected pieces</a:t>
                      </a:r>
                    </a:p>
                  </a:txBody>
                  <a:tcPr/>
                </a:tc>
                <a:tc>
                  <a:txBody>
                    <a:bodyPr/>
                    <a:lstStyle/>
                    <a:p>
                      <a:r>
                        <a:rPr lang="en-US" dirty="0"/>
                        <a:t>Result</a:t>
                      </a:r>
                    </a:p>
                  </a:txBody>
                  <a:tcPr/>
                </a:tc>
                <a:extLst>
                  <a:ext uri="{0D108BD9-81ED-4DB2-BD59-A6C34878D82A}">
                    <a16:rowId xmlns:a16="http://schemas.microsoft.com/office/drawing/2014/main" val="4214662801"/>
                  </a:ext>
                </a:extLst>
              </a:tr>
              <a:tr h="1188297">
                <a:tc>
                  <a:txBody>
                    <a:bodyPr/>
                    <a:lstStyle/>
                    <a:p>
                      <a:r>
                        <a:rPr lang="en-US" dirty="0"/>
                        <a:t>Production firing #1</a:t>
                      </a:r>
                    </a:p>
                  </a:txBody>
                  <a:tcPr/>
                </a:tc>
                <a:tc>
                  <a:txBody>
                    <a:bodyPr/>
                    <a:lstStyle/>
                    <a:p>
                      <a:r>
                        <a:rPr lang="en-US" dirty="0"/>
                        <a:t>Trial 10 formula (best formula)</a:t>
                      </a:r>
                    </a:p>
                  </a:txBody>
                  <a:tcPr/>
                </a:tc>
                <a:tc>
                  <a:txBody>
                    <a:bodyPr/>
                    <a:lstStyle/>
                    <a:p>
                      <a:r>
                        <a:rPr lang="en-US" dirty="0"/>
                        <a:t>32</a:t>
                      </a:r>
                    </a:p>
                  </a:txBody>
                  <a:tcPr/>
                </a:tc>
                <a:tc>
                  <a:txBody>
                    <a:bodyPr/>
                    <a:lstStyle/>
                    <a:p>
                      <a:r>
                        <a:rPr lang="en-US" dirty="0"/>
                        <a:t>29</a:t>
                      </a:r>
                    </a:p>
                  </a:txBody>
                  <a:tcPr/>
                </a:tc>
                <a:tc>
                  <a:txBody>
                    <a:bodyPr/>
                    <a:lstStyle/>
                    <a:p>
                      <a:r>
                        <a:rPr lang="en-US" dirty="0"/>
                        <a:t>3</a:t>
                      </a:r>
                    </a:p>
                  </a:txBody>
                  <a:tcPr/>
                </a:tc>
                <a:tc>
                  <a:txBody>
                    <a:bodyPr/>
                    <a:lstStyle/>
                    <a:p>
                      <a:r>
                        <a:rPr lang="en-US" dirty="0"/>
                        <a:t>3 </a:t>
                      </a:r>
                    </a:p>
                  </a:txBody>
                  <a:tcPr/>
                </a:tc>
                <a:tc>
                  <a:txBody>
                    <a:bodyPr/>
                    <a:lstStyle/>
                    <a:p>
                      <a:r>
                        <a:rPr lang="en-US" dirty="0"/>
                        <a:t>Standard single layer painting successful; defects remained in multilayer applications</a:t>
                      </a:r>
                    </a:p>
                  </a:txBody>
                  <a:tcPr/>
                </a:tc>
                <a:extLst>
                  <a:ext uri="{0D108BD9-81ED-4DB2-BD59-A6C34878D82A}">
                    <a16:rowId xmlns:a16="http://schemas.microsoft.com/office/drawing/2014/main" val="2431217074"/>
                  </a:ext>
                </a:extLst>
              </a:tr>
              <a:tr h="1188297">
                <a:tc>
                  <a:txBody>
                    <a:bodyPr/>
                    <a:lstStyle/>
                    <a:p>
                      <a:r>
                        <a:rPr lang="en-US" dirty="0"/>
                        <a:t>Production firing #2</a:t>
                      </a:r>
                    </a:p>
                  </a:txBody>
                  <a:tcPr/>
                </a:tc>
                <a:tc>
                  <a:txBody>
                    <a:bodyPr/>
                    <a:lstStyle/>
                    <a:p>
                      <a:r>
                        <a:rPr lang="en-US" dirty="0"/>
                        <a:t>-Trial 10 formula for single layer</a:t>
                      </a:r>
                    </a:p>
                    <a:p>
                      <a:r>
                        <a:rPr lang="en-US" dirty="0"/>
                        <a:t>-Trial 10 formula + 1g more water  for multilayer </a:t>
                      </a:r>
                    </a:p>
                  </a:txBody>
                  <a:tcPr/>
                </a:tc>
                <a:tc>
                  <a:txBody>
                    <a:bodyPr/>
                    <a:lstStyle/>
                    <a:p>
                      <a:r>
                        <a:rPr lang="en-US" dirty="0"/>
                        <a:t>37</a:t>
                      </a:r>
                    </a:p>
                  </a:txBody>
                  <a:tcPr/>
                </a:tc>
                <a:tc>
                  <a:txBody>
                    <a:bodyPr/>
                    <a:lstStyle/>
                    <a:p>
                      <a:r>
                        <a:rPr lang="en-US" dirty="0"/>
                        <a:t>30</a:t>
                      </a:r>
                    </a:p>
                  </a:txBody>
                  <a:tcPr/>
                </a:tc>
                <a:tc>
                  <a:txBody>
                    <a:bodyPr/>
                    <a:lstStyle/>
                    <a:p>
                      <a:r>
                        <a:rPr lang="en-US" dirty="0"/>
                        <a:t>6</a:t>
                      </a:r>
                    </a:p>
                  </a:txBody>
                  <a:tcPr/>
                </a:tc>
                <a:tc>
                  <a:txBody>
                    <a:bodyPr/>
                    <a:lstStyle/>
                    <a:p>
                      <a:r>
                        <a:rPr lang="en-US" dirty="0"/>
                        <a:t>1</a:t>
                      </a:r>
                    </a:p>
                  </a:txBody>
                  <a:tcPr/>
                </a:tc>
                <a:tc>
                  <a:txBody>
                    <a:bodyPr/>
                    <a:lstStyle/>
                    <a:p>
                      <a:r>
                        <a:rPr lang="en-US" dirty="0"/>
                        <a:t>Only 1 remaining defect due to painting technique (person)</a:t>
                      </a:r>
                    </a:p>
                  </a:txBody>
                  <a:tcPr/>
                </a:tc>
                <a:extLst>
                  <a:ext uri="{0D108BD9-81ED-4DB2-BD59-A6C34878D82A}">
                    <a16:rowId xmlns:a16="http://schemas.microsoft.com/office/drawing/2014/main" val="2566180932"/>
                  </a:ext>
                </a:extLst>
              </a:tr>
            </a:tbl>
          </a:graphicData>
        </a:graphic>
      </p:graphicFrame>
    </p:spTree>
    <p:extLst>
      <p:ext uri="{BB962C8B-B14F-4D97-AF65-F5344CB8AC3E}">
        <p14:creationId xmlns:p14="http://schemas.microsoft.com/office/powerpoint/2010/main" val="1519635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51649-3A63-11E9-C29B-30F7BFB9E1F8}"/>
              </a:ext>
            </a:extLst>
          </p:cNvPr>
          <p:cNvSpPr>
            <a:spLocks noGrp="1"/>
          </p:cNvSpPr>
          <p:nvPr>
            <p:ph type="title"/>
          </p:nvPr>
        </p:nvSpPr>
        <p:spPr/>
        <p:txBody>
          <a:bodyPr/>
          <a:lstStyle/>
          <a:p>
            <a:r>
              <a:rPr lang="en-US" b="1" dirty="0"/>
              <a:t>Improve – DPMO and Sigma Level </a:t>
            </a:r>
          </a:p>
        </p:txBody>
      </p:sp>
      <p:graphicFrame>
        <p:nvGraphicFramePr>
          <p:cNvPr id="5" name="Table 4">
            <a:extLst>
              <a:ext uri="{FF2B5EF4-FFF2-40B4-BE49-F238E27FC236}">
                <a16:creationId xmlns:a16="http://schemas.microsoft.com/office/drawing/2014/main" id="{A374CF95-DF9B-4E0C-064E-0F8B1CEBB512}"/>
              </a:ext>
            </a:extLst>
          </p:cNvPr>
          <p:cNvGraphicFramePr>
            <a:graphicFrameLocks noGrp="1"/>
          </p:cNvGraphicFramePr>
          <p:nvPr>
            <p:extLst>
              <p:ext uri="{D42A27DB-BD31-4B8C-83A1-F6EECF244321}">
                <p14:modId xmlns:p14="http://schemas.microsoft.com/office/powerpoint/2010/main" val="1932985169"/>
              </p:ext>
            </p:extLst>
          </p:nvPr>
        </p:nvGraphicFramePr>
        <p:xfrm>
          <a:off x="242285" y="1690688"/>
          <a:ext cx="5894923" cy="3819084"/>
        </p:xfrm>
        <a:graphic>
          <a:graphicData uri="http://schemas.openxmlformats.org/drawingml/2006/table">
            <a:tbl>
              <a:tblPr firstRow="1" bandRow="1">
                <a:tableStyleId>{5C22544A-7EE6-4342-B048-85BDC9FD1C3A}</a:tableStyleId>
              </a:tblPr>
              <a:tblGrid>
                <a:gridCol w="3742873">
                  <a:extLst>
                    <a:ext uri="{9D8B030D-6E8A-4147-A177-3AD203B41FA5}">
                      <a16:colId xmlns:a16="http://schemas.microsoft.com/office/drawing/2014/main" val="4112289310"/>
                    </a:ext>
                  </a:extLst>
                </a:gridCol>
                <a:gridCol w="981289">
                  <a:extLst>
                    <a:ext uri="{9D8B030D-6E8A-4147-A177-3AD203B41FA5}">
                      <a16:colId xmlns:a16="http://schemas.microsoft.com/office/drawing/2014/main" val="2890296915"/>
                    </a:ext>
                  </a:extLst>
                </a:gridCol>
                <a:gridCol w="1170761">
                  <a:extLst>
                    <a:ext uri="{9D8B030D-6E8A-4147-A177-3AD203B41FA5}">
                      <a16:colId xmlns:a16="http://schemas.microsoft.com/office/drawing/2014/main" val="3401459857"/>
                    </a:ext>
                  </a:extLst>
                </a:gridCol>
              </a:tblGrid>
              <a:tr h="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Formula A </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txBody>
                  <a:tcPr/>
                </a:tc>
                <a:extLst>
                  <a:ext uri="{0D108BD9-81ED-4DB2-BD59-A6C34878D82A}">
                    <a16:rowId xmlns:a16="http://schemas.microsoft.com/office/drawing/2014/main" val="480787354"/>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number of units processed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32</a:t>
                      </a:r>
                    </a:p>
                  </a:txBody>
                  <a:tcPr/>
                </a:tc>
                <a:extLst>
                  <a:ext uri="{0D108BD9-81ED-4DB2-BD59-A6C34878D82A}">
                    <a16:rowId xmlns:a16="http://schemas.microsoft.com/office/drawing/2014/main" val="201381115"/>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number of defects observed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a:t>
                      </a:r>
                    </a:p>
                  </a:txBody>
                  <a:tcPr/>
                </a:tc>
                <a:extLst>
                  <a:ext uri="{0D108BD9-81ED-4DB2-BD59-A6C34878D82A}">
                    <a16:rowId xmlns:a16="http://schemas.microsoft.com/office/drawing/2014/main" val="1762981516"/>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Number of defect opportunities per unit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a:t>
                      </a:r>
                    </a:p>
                  </a:txBody>
                  <a:tcPr/>
                </a:tc>
                <a:extLst>
                  <a:ext uri="{0D108BD9-81ED-4DB2-BD59-A6C34878D82A}">
                    <a16:rowId xmlns:a16="http://schemas.microsoft.com/office/drawing/2014/main" val="1419383870"/>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Defect Per Opportunity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DPO=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0.09375</a:t>
                      </a:r>
                    </a:p>
                  </a:txBody>
                  <a:tcPr/>
                </a:tc>
                <a:extLst>
                  <a:ext uri="{0D108BD9-81ED-4DB2-BD59-A6C34878D82A}">
                    <a16:rowId xmlns:a16="http://schemas.microsoft.com/office/drawing/2014/main" val="2425264692"/>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Defect Per Million Opportunity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DPMO=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93,750</a:t>
                      </a:r>
                    </a:p>
                  </a:txBody>
                  <a:tcPr/>
                </a:tc>
                <a:extLst>
                  <a:ext uri="{0D108BD9-81ED-4DB2-BD59-A6C34878D82A}">
                    <a16:rowId xmlns:a16="http://schemas.microsoft.com/office/drawing/2014/main" val="2331741743"/>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Yield rate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yield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90.625%</a:t>
                      </a:r>
                    </a:p>
                  </a:txBody>
                  <a:tcPr/>
                </a:tc>
                <a:extLst>
                  <a:ext uri="{0D108BD9-81ED-4DB2-BD59-A6C34878D82A}">
                    <a16:rowId xmlns:a16="http://schemas.microsoft.com/office/drawing/2014/main" val="1168443893"/>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Sigma Level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sigma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2.8</a:t>
                      </a:r>
                    </a:p>
                  </a:txBody>
                  <a:tcPr/>
                </a:tc>
                <a:extLst>
                  <a:ext uri="{0D108BD9-81ED-4DB2-BD59-A6C34878D82A}">
                    <a16:rowId xmlns:a16="http://schemas.microsoft.com/office/drawing/2014/main" val="38857908"/>
                  </a:ext>
                </a:extLst>
              </a:tr>
            </a:tbl>
          </a:graphicData>
        </a:graphic>
      </p:graphicFrame>
      <p:graphicFrame>
        <p:nvGraphicFramePr>
          <p:cNvPr id="6" name="Table 5">
            <a:extLst>
              <a:ext uri="{FF2B5EF4-FFF2-40B4-BE49-F238E27FC236}">
                <a16:creationId xmlns:a16="http://schemas.microsoft.com/office/drawing/2014/main" id="{7B617071-2A6C-8D91-4F88-C501782BE312}"/>
              </a:ext>
            </a:extLst>
          </p:cNvPr>
          <p:cNvGraphicFramePr>
            <a:graphicFrameLocks noGrp="1"/>
          </p:cNvGraphicFramePr>
          <p:nvPr>
            <p:extLst>
              <p:ext uri="{D42A27DB-BD31-4B8C-83A1-F6EECF244321}">
                <p14:modId xmlns:p14="http://schemas.microsoft.com/office/powerpoint/2010/main" val="1846905210"/>
              </p:ext>
            </p:extLst>
          </p:nvPr>
        </p:nvGraphicFramePr>
        <p:xfrm>
          <a:off x="6272816" y="1690688"/>
          <a:ext cx="5676899" cy="3819084"/>
        </p:xfrm>
        <a:graphic>
          <a:graphicData uri="http://schemas.openxmlformats.org/drawingml/2006/table">
            <a:tbl>
              <a:tblPr firstRow="1" bandRow="1">
                <a:tableStyleId>{5C22544A-7EE6-4342-B048-85BDC9FD1C3A}</a:tableStyleId>
              </a:tblPr>
              <a:tblGrid>
                <a:gridCol w="3762305">
                  <a:extLst>
                    <a:ext uri="{9D8B030D-6E8A-4147-A177-3AD203B41FA5}">
                      <a16:colId xmlns:a16="http://schemas.microsoft.com/office/drawing/2014/main" val="4112289310"/>
                    </a:ext>
                  </a:extLst>
                </a:gridCol>
                <a:gridCol w="973538">
                  <a:extLst>
                    <a:ext uri="{9D8B030D-6E8A-4147-A177-3AD203B41FA5}">
                      <a16:colId xmlns:a16="http://schemas.microsoft.com/office/drawing/2014/main" val="2890296915"/>
                    </a:ext>
                  </a:extLst>
                </a:gridCol>
                <a:gridCol w="941056">
                  <a:extLst>
                    <a:ext uri="{9D8B030D-6E8A-4147-A177-3AD203B41FA5}">
                      <a16:colId xmlns:a16="http://schemas.microsoft.com/office/drawing/2014/main" val="3401459857"/>
                    </a:ext>
                  </a:extLst>
                </a:gridCol>
              </a:tblGrid>
              <a:tr h="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Formula B</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txBody>
                  <a:tcPr/>
                </a:tc>
                <a:extLst>
                  <a:ext uri="{0D108BD9-81ED-4DB2-BD59-A6C34878D82A}">
                    <a16:rowId xmlns:a16="http://schemas.microsoft.com/office/drawing/2014/main" val="480787354"/>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number of units processed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37</a:t>
                      </a:r>
                    </a:p>
                  </a:txBody>
                  <a:tcPr/>
                </a:tc>
                <a:extLst>
                  <a:ext uri="{0D108BD9-81ED-4DB2-BD59-A6C34878D82A}">
                    <a16:rowId xmlns:a16="http://schemas.microsoft.com/office/drawing/2014/main" val="201381115"/>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number of defects observed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a:t>
                      </a:r>
                    </a:p>
                  </a:txBody>
                  <a:tcPr/>
                </a:tc>
                <a:extLst>
                  <a:ext uri="{0D108BD9-81ED-4DB2-BD59-A6C34878D82A}">
                    <a16:rowId xmlns:a16="http://schemas.microsoft.com/office/drawing/2014/main" val="1762981516"/>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Number of defect opportunities per unit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a:t>
                      </a:r>
                    </a:p>
                  </a:txBody>
                  <a:tcPr/>
                </a:tc>
                <a:extLst>
                  <a:ext uri="{0D108BD9-81ED-4DB2-BD59-A6C34878D82A}">
                    <a16:rowId xmlns:a16="http://schemas.microsoft.com/office/drawing/2014/main" val="1419383870"/>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Defect Per Opportunity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DPO=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0.02703</a:t>
                      </a:r>
                    </a:p>
                  </a:txBody>
                  <a:tcPr/>
                </a:tc>
                <a:extLst>
                  <a:ext uri="{0D108BD9-81ED-4DB2-BD59-A6C34878D82A}">
                    <a16:rowId xmlns:a16="http://schemas.microsoft.com/office/drawing/2014/main" val="2425264692"/>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Defect Per Million Opportunity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DPMO=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27,027</a:t>
                      </a:r>
                    </a:p>
                  </a:txBody>
                  <a:tcPr/>
                </a:tc>
                <a:extLst>
                  <a:ext uri="{0D108BD9-81ED-4DB2-BD59-A6C34878D82A}">
                    <a16:rowId xmlns:a16="http://schemas.microsoft.com/office/drawing/2014/main" val="2331741743"/>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Yield rate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yield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97.30%</a:t>
                      </a:r>
                    </a:p>
                  </a:txBody>
                  <a:tcPr/>
                </a:tc>
                <a:extLst>
                  <a:ext uri="{0D108BD9-81ED-4DB2-BD59-A6C34878D82A}">
                    <a16:rowId xmlns:a16="http://schemas.microsoft.com/office/drawing/2014/main" val="1168443893"/>
                  </a:ext>
                </a:extLst>
              </a:tr>
              <a:tr h="4688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Sigma Level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sigma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3.4</a:t>
                      </a:r>
                    </a:p>
                  </a:txBody>
                  <a:tcPr/>
                </a:tc>
                <a:extLst>
                  <a:ext uri="{0D108BD9-81ED-4DB2-BD59-A6C34878D82A}">
                    <a16:rowId xmlns:a16="http://schemas.microsoft.com/office/drawing/2014/main" val="38857908"/>
                  </a:ext>
                </a:extLst>
              </a:tr>
            </a:tbl>
          </a:graphicData>
        </a:graphic>
      </p:graphicFrame>
      <p:sp>
        <p:nvSpPr>
          <p:cNvPr id="9" name="TextBox 8">
            <a:extLst>
              <a:ext uri="{FF2B5EF4-FFF2-40B4-BE49-F238E27FC236}">
                <a16:creationId xmlns:a16="http://schemas.microsoft.com/office/drawing/2014/main" id="{9B09967D-7E68-DD2C-E908-1D5C8B4B1D4F}"/>
              </a:ext>
            </a:extLst>
          </p:cNvPr>
          <p:cNvSpPr txBox="1"/>
          <p:nvPr/>
        </p:nvSpPr>
        <p:spPr>
          <a:xfrm>
            <a:off x="553809" y="5688465"/>
            <a:ext cx="5145741" cy="369332"/>
          </a:xfrm>
          <a:prstGeom prst="rect">
            <a:avLst/>
          </a:prstGeom>
          <a:noFill/>
        </p:spPr>
        <p:txBody>
          <a:bodyPr wrap="square" rtlCol="0">
            <a:spAutoFit/>
          </a:bodyPr>
          <a:lstStyle/>
          <a:p>
            <a:r>
              <a:rPr lang="en-US" dirty="0">
                <a:highlight>
                  <a:srgbClr val="C0C0C0"/>
                </a:highlight>
              </a:rPr>
              <a:t>Formula A Defect Rate = 3/32=0.09375= 9.38%</a:t>
            </a:r>
          </a:p>
        </p:txBody>
      </p:sp>
      <p:sp>
        <p:nvSpPr>
          <p:cNvPr id="10" name="TextBox 9">
            <a:extLst>
              <a:ext uri="{FF2B5EF4-FFF2-40B4-BE49-F238E27FC236}">
                <a16:creationId xmlns:a16="http://schemas.microsoft.com/office/drawing/2014/main" id="{58C09A26-33D9-C3AA-C21A-81C14F8C9A6C}"/>
              </a:ext>
            </a:extLst>
          </p:cNvPr>
          <p:cNvSpPr txBox="1"/>
          <p:nvPr/>
        </p:nvSpPr>
        <p:spPr>
          <a:xfrm>
            <a:off x="6492451" y="5688465"/>
            <a:ext cx="4861349" cy="369332"/>
          </a:xfrm>
          <a:prstGeom prst="rect">
            <a:avLst/>
          </a:prstGeom>
          <a:noFill/>
        </p:spPr>
        <p:txBody>
          <a:bodyPr wrap="square" rtlCol="0">
            <a:spAutoFit/>
          </a:bodyPr>
          <a:lstStyle/>
          <a:p>
            <a:r>
              <a:rPr lang="en-US" dirty="0">
                <a:highlight>
                  <a:srgbClr val="C0C0C0"/>
                </a:highlight>
              </a:rPr>
              <a:t>Formula B Defect Rate= 1/37=0.02703= 2.70%</a:t>
            </a:r>
          </a:p>
        </p:txBody>
      </p:sp>
      <p:sp>
        <p:nvSpPr>
          <p:cNvPr id="12" name="TextBox 11">
            <a:extLst>
              <a:ext uri="{FF2B5EF4-FFF2-40B4-BE49-F238E27FC236}">
                <a16:creationId xmlns:a16="http://schemas.microsoft.com/office/drawing/2014/main" id="{A183E487-643D-6100-9A9C-F5E9A52A4568}"/>
              </a:ext>
            </a:extLst>
          </p:cNvPr>
          <p:cNvSpPr txBox="1"/>
          <p:nvPr/>
        </p:nvSpPr>
        <p:spPr>
          <a:xfrm>
            <a:off x="18351" y="6308209"/>
            <a:ext cx="1191829" cy="369332"/>
          </a:xfrm>
          <a:prstGeom prst="rect">
            <a:avLst/>
          </a:prstGeom>
          <a:noFill/>
        </p:spPr>
        <p:txBody>
          <a:bodyPr wrap="square" rtlCol="0">
            <a:spAutoFit/>
          </a:bodyPr>
          <a:lstStyle/>
          <a:p>
            <a:r>
              <a:rPr lang="en-US" b="1" dirty="0">
                <a:solidFill>
                  <a:schemeClr val="accent1"/>
                </a:solidFill>
              </a:rPr>
              <a:t>IMPROVE</a:t>
            </a:r>
          </a:p>
        </p:txBody>
      </p:sp>
    </p:spTree>
    <p:extLst>
      <p:ext uri="{BB962C8B-B14F-4D97-AF65-F5344CB8AC3E}">
        <p14:creationId xmlns:p14="http://schemas.microsoft.com/office/powerpoint/2010/main" val="2376670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B09C6-41E3-9883-4F09-D6EF3D087D7A}"/>
              </a:ext>
            </a:extLst>
          </p:cNvPr>
          <p:cNvSpPr>
            <a:spLocks noGrp="1"/>
          </p:cNvSpPr>
          <p:nvPr>
            <p:ph type="title"/>
          </p:nvPr>
        </p:nvSpPr>
        <p:spPr/>
        <p:txBody>
          <a:bodyPr/>
          <a:lstStyle/>
          <a:p>
            <a:r>
              <a:rPr lang="en-US" b="1" dirty="0"/>
              <a:t>Improve</a:t>
            </a:r>
          </a:p>
        </p:txBody>
      </p:sp>
      <p:sp>
        <p:nvSpPr>
          <p:cNvPr id="3" name="Content Placeholder 2">
            <a:extLst>
              <a:ext uri="{FF2B5EF4-FFF2-40B4-BE49-F238E27FC236}">
                <a16:creationId xmlns:a16="http://schemas.microsoft.com/office/drawing/2014/main" id="{674C4F57-B51E-A237-AF3D-818C68F2FB98}"/>
              </a:ext>
            </a:extLst>
          </p:cNvPr>
          <p:cNvSpPr>
            <a:spLocks noGrp="1"/>
          </p:cNvSpPr>
          <p:nvPr>
            <p:ph idx="1"/>
          </p:nvPr>
        </p:nvSpPr>
        <p:spPr/>
        <p:txBody>
          <a:bodyPr>
            <a:normAutofit/>
          </a:bodyPr>
          <a:lstStyle/>
          <a:p>
            <a:pPr>
              <a:buFont typeface="Arial" panose="020B0604020202020204" pitchFamily="34" charset="0"/>
              <a:buChar char="•"/>
            </a:pPr>
            <a:r>
              <a:rPr lang="en-US" dirty="0"/>
              <a:t>We implemented the trial 10 formulation using the identified ingredient ratios. </a:t>
            </a:r>
          </a:p>
          <a:p>
            <a:pPr>
              <a:buFont typeface="Arial" panose="020B0604020202020204" pitchFamily="34" charset="0"/>
              <a:buChar char="•"/>
            </a:pPr>
            <a:r>
              <a:rPr lang="en-US" dirty="0"/>
              <a:t>We developed a second formulation with increased water content for multilayer paint applications. </a:t>
            </a:r>
          </a:p>
          <a:p>
            <a:pPr>
              <a:buFont typeface="Arial" panose="020B0604020202020204" pitchFamily="34" charset="0"/>
              <a:buChar char="•"/>
            </a:pPr>
            <a:r>
              <a:rPr lang="en-US" dirty="0"/>
              <a:t>We validated the new formulations through additional kiln firings.</a:t>
            </a:r>
          </a:p>
          <a:p>
            <a:pPr>
              <a:buFont typeface="Arial" panose="020B0604020202020204" pitchFamily="34" charset="0"/>
              <a:buChar char="•"/>
            </a:pPr>
            <a:r>
              <a:rPr lang="en-US" dirty="0"/>
              <a:t>The defect rate decreased from 90.6% (48 defects in 55 pieces) to 2.7% (1 defect in 37 pieces). Yield improved from 9.4% to 97.3%, demonstrating that the process changes were effective in reducing defects.</a:t>
            </a:r>
          </a:p>
          <a:p>
            <a:pPr>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id="{B0492BE6-CD12-99D3-D683-C9CBE4DB59A6}"/>
              </a:ext>
            </a:extLst>
          </p:cNvPr>
          <p:cNvSpPr txBox="1"/>
          <p:nvPr/>
        </p:nvSpPr>
        <p:spPr>
          <a:xfrm>
            <a:off x="18351" y="6308209"/>
            <a:ext cx="1191829" cy="369332"/>
          </a:xfrm>
          <a:prstGeom prst="rect">
            <a:avLst/>
          </a:prstGeom>
          <a:noFill/>
        </p:spPr>
        <p:txBody>
          <a:bodyPr wrap="square" rtlCol="0">
            <a:spAutoFit/>
          </a:bodyPr>
          <a:lstStyle/>
          <a:p>
            <a:r>
              <a:rPr lang="en-US" b="1" dirty="0">
                <a:solidFill>
                  <a:schemeClr val="accent1"/>
                </a:solidFill>
              </a:rPr>
              <a:t>IMPROVE</a:t>
            </a:r>
          </a:p>
        </p:txBody>
      </p:sp>
    </p:spTree>
    <p:extLst>
      <p:ext uri="{BB962C8B-B14F-4D97-AF65-F5344CB8AC3E}">
        <p14:creationId xmlns:p14="http://schemas.microsoft.com/office/powerpoint/2010/main" val="395080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712AA-3716-606B-4C41-CD27A1BC1783}"/>
              </a:ext>
            </a:extLst>
          </p:cNvPr>
          <p:cNvSpPr>
            <a:spLocks noGrp="1"/>
          </p:cNvSpPr>
          <p:nvPr>
            <p:ph type="title"/>
          </p:nvPr>
        </p:nvSpPr>
        <p:spPr/>
        <p:txBody>
          <a:bodyPr/>
          <a:lstStyle/>
          <a:p>
            <a:r>
              <a:rPr lang="en-US" b="1" dirty="0"/>
              <a:t>Improve - Standardized Formula</a:t>
            </a:r>
          </a:p>
        </p:txBody>
      </p:sp>
      <p:graphicFrame>
        <p:nvGraphicFramePr>
          <p:cNvPr id="6" name="Table 5">
            <a:extLst>
              <a:ext uri="{FF2B5EF4-FFF2-40B4-BE49-F238E27FC236}">
                <a16:creationId xmlns:a16="http://schemas.microsoft.com/office/drawing/2014/main" id="{8E730AFC-AC3D-0606-1FE5-757F7B3B7269}"/>
              </a:ext>
            </a:extLst>
          </p:cNvPr>
          <p:cNvGraphicFramePr>
            <a:graphicFrameLocks noGrp="1"/>
          </p:cNvGraphicFramePr>
          <p:nvPr>
            <p:extLst>
              <p:ext uri="{D42A27DB-BD31-4B8C-83A1-F6EECF244321}">
                <p14:modId xmlns:p14="http://schemas.microsoft.com/office/powerpoint/2010/main" val="506675868"/>
              </p:ext>
            </p:extLst>
          </p:nvPr>
        </p:nvGraphicFramePr>
        <p:xfrm>
          <a:off x="838200" y="2191886"/>
          <a:ext cx="10328032" cy="2222090"/>
        </p:xfrm>
        <a:graphic>
          <a:graphicData uri="http://schemas.openxmlformats.org/drawingml/2006/table">
            <a:tbl>
              <a:tblPr firstRow="1" bandRow="1">
                <a:tableStyleId>{5C22544A-7EE6-4342-B048-85BDC9FD1C3A}</a:tableStyleId>
              </a:tblPr>
              <a:tblGrid>
                <a:gridCol w="1583301">
                  <a:extLst>
                    <a:ext uri="{9D8B030D-6E8A-4147-A177-3AD203B41FA5}">
                      <a16:colId xmlns:a16="http://schemas.microsoft.com/office/drawing/2014/main" val="868339885"/>
                    </a:ext>
                  </a:extLst>
                </a:gridCol>
                <a:gridCol w="1059049">
                  <a:extLst>
                    <a:ext uri="{9D8B030D-6E8A-4147-A177-3AD203B41FA5}">
                      <a16:colId xmlns:a16="http://schemas.microsoft.com/office/drawing/2014/main" val="332609059"/>
                    </a:ext>
                  </a:extLst>
                </a:gridCol>
                <a:gridCol w="1079807">
                  <a:extLst>
                    <a:ext uri="{9D8B030D-6E8A-4147-A177-3AD203B41FA5}">
                      <a16:colId xmlns:a16="http://schemas.microsoft.com/office/drawing/2014/main" val="345997405"/>
                    </a:ext>
                  </a:extLst>
                </a:gridCol>
                <a:gridCol w="1321175">
                  <a:extLst>
                    <a:ext uri="{9D8B030D-6E8A-4147-A177-3AD203B41FA5}">
                      <a16:colId xmlns:a16="http://schemas.microsoft.com/office/drawing/2014/main" val="3387092506"/>
                    </a:ext>
                  </a:extLst>
                </a:gridCol>
                <a:gridCol w="1321175">
                  <a:extLst>
                    <a:ext uri="{9D8B030D-6E8A-4147-A177-3AD203B41FA5}">
                      <a16:colId xmlns:a16="http://schemas.microsoft.com/office/drawing/2014/main" val="572974695"/>
                    </a:ext>
                  </a:extLst>
                </a:gridCol>
                <a:gridCol w="1321175">
                  <a:extLst>
                    <a:ext uri="{9D8B030D-6E8A-4147-A177-3AD203B41FA5}">
                      <a16:colId xmlns:a16="http://schemas.microsoft.com/office/drawing/2014/main" val="540762612"/>
                    </a:ext>
                  </a:extLst>
                </a:gridCol>
                <a:gridCol w="1321175">
                  <a:extLst>
                    <a:ext uri="{9D8B030D-6E8A-4147-A177-3AD203B41FA5}">
                      <a16:colId xmlns:a16="http://schemas.microsoft.com/office/drawing/2014/main" val="1379057273"/>
                    </a:ext>
                  </a:extLst>
                </a:gridCol>
                <a:gridCol w="1321175">
                  <a:extLst>
                    <a:ext uri="{9D8B030D-6E8A-4147-A177-3AD203B41FA5}">
                      <a16:colId xmlns:a16="http://schemas.microsoft.com/office/drawing/2014/main" val="3494185082"/>
                    </a:ext>
                  </a:extLst>
                </a:gridCol>
              </a:tblGrid>
              <a:tr h="762983">
                <a:tc>
                  <a:txBody>
                    <a:bodyPr/>
                    <a:lstStyle/>
                    <a:p>
                      <a:r>
                        <a:rPr lang="en-US" dirty="0"/>
                        <a:t>Application Type</a:t>
                      </a:r>
                    </a:p>
                  </a:txBody>
                  <a:tcPr/>
                </a:tc>
                <a:tc>
                  <a:txBody>
                    <a:bodyPr/>
                    <a:lstStyle/>
                    <a:p>
                      <a:pPr algn="ctr"/>
                      <a:r>
                        <a:rPr lang="en-US" sz="1800" dirty="0"/>
                        <a:t>Formula</a:t>
                      </a:r>
                    </a:p>
                  </a:txBody>
                  <a:tcPr/>
                </a:tc>
                <a:tc>
                  <a:txBody>
                    <a:bodyPr/>
                    <a:lstStyle/>
                    <a:p>
                      <a:pPr algn="ctr"/>
                      <a:r>
                        <a:rPr lang="en-US" sz="1800" dirty="0"/>
                        <a:t>Water </a:t>
                      </a:r>
                    </a:p>
                    <a:p>
                      <a:pPr algn="ctr"/>
                      <a:r>
                        <a:rPr lang="en-US" sz="1800" dirty="0"/>
                        <a:t>(g)</a:t>
                      </a:r>
                    </a:p>
                  </a:txBody>
                  <a:tcPr/>
                </a:tc>
                <a:tc>
                  <a:txBody>
                    <a:bodyPr/>
                    <a:lstStyle/>
                    <a:p>
                      <a:pPr algn="ctr"/>
                      <a:r>
                        <a:rPr lang="en-US" sz="1800" dirty="0"/>
                        <a:t>Pigment</a:t>
                      </a:r>
                    </a:p>
                    <a:p>
                      <a:pPr algn="ctr"/>
                      <a:r>
                        <a:rPr lang="en-US" sz="1800" dirty="0"/>
                        <a:t> (g)</a:t>
                      </a:r>
                    </a:p>
                  </a:txBody>
                  <a:tcPr/>
                </a:tc>
                <a:tc>
                  <a:txBody>
                    <a:bodyPr/>
                    <a:lstStyle/>
                    <a:p>
                      <a:pPr algn="ctr"/>
                      <a:r>
                        <a:rPr lang="en-US" sz="1800" dirty="0"/>
                        <a:t>Glaze </a:t>
                      </a:r>
                    </a:p>
                    <a:p>
                      <a:pPr algn="ctr"/>
                      <a:r>
                        <a:rPr lang="en-US" sz="1800" dirty="0"/>
                        <a:t>(g)</a:t>
                      </a:r>
                    </a:p>
                  </a:txBody>
                  <a:tcPr/>
                </a:tc>
                <a:tc>
                  <a:txBody>
                    <a:bodyPr/>
                    <a:lstStyle/>
                    <a:p>
                      <a:pPr algn="ctr"/>
                      <a:r>
                        <a:rPr lang="en-US" sz="1800" dirty="0"/>
                        <a:t>Glaze Baume</a:t>
                      </a:r>
                    </a:p>
                    <a:p>
                      <a:pPr algn="ctr"/>
                      <a:r>
                        <a:rPr lang="en-US" sz="1800" dirty="0"/>
                        <a:t> </a:t>
                      </a:r>
                    </a:p>
                  </a:txBody>
                  <a:tcPr/>
                </a:tc>
                <a:tc>
                  <a:txBody>
                    <a:bodyPr/>
                    <a:lstStyle/>
                    <a:p>
                      <a:pPr algn="ctr"/>
                      <a:r>
                        <a:rPr lang="en-US" sz="1800" dirty="0"/>
                        <a:t>Clay </a:t>
                      </a:r>
                    </a:p>
                    <a:p>
                      <a:pPr algn="ctr"/>
                      <a:r>
                        <a:rPr lang="en-US" sz="1800" dirty="0"/>
                        <a:t>(g)</a:t>
                      </a:r>
                    </a:p>
                  </a:txBody>
                  <a:tcPr/>
                </a:tc>
                <a:tc>
                  <a:txBody>
                    <a:bodyPr/>
                    <a:lstStyle/>
                    <a:p>
                      <a:pPr algn="ctr"/>
                      <a:r>
                        <a:rPr lang="en-US" sz="1800" dirty="0"/>
                        <a:t>Medium drop</a:t>
                      </a:r>
                    </a:p>
                  </a:txBody>
                  <a:tcPr/>
                </a:tc>
                <a:extLst>
                  <a:ext uri="{0D108BD9-81ED-4DB2-BD59-A6C34878D82A}">
                    <a16:rowId xmlns:a16="http://schemas.microsoft.com/office/drawing/2014/main" val="2976238801"/>
                  </a:ext>
                </a:extLst>
              </a:tr>
              <a:tr h="667610">
                <a:tc>
                  <a:txBody>
                    <a:bodyPr/>
                    <a:lstStyle/>
                    <a:p>
                      <a:r>
                        <a:rPr lang="en-US" dirty="0"/>
                        <a:t>Single layer painting</a:t>
                      </a:r>
                    </a:p>
                  </a:txBody>
                  <a:tcPr/>
                </a:tc>
                <a:tc>
                  <a:txBody>
                    <a:bodyPr/>
                    <a:lstStyle/>
                    <a:p>
                      <a:r>
                        <a:rPr lang="en-US" sz="1800" dirty="0"/>
                        <a:t>Formula A</a:t>
                      </a:r>
                    </a:p>
                  </a:txBody>
                  <a:tcPr/>
                </a:tc>
                <a:tc>
                  <a:txBody>
                    <a:bodyPr/>
                    <a:lstStyle/>
                    <a:p>
                      <a:r>
                        <a:rPr lang="en-US" sz="1800" dirty="0"/>
                        <a:t>11 grams</a:t>
                      </a:r>
                    </a:p>
                  </a:txBody>
                  <a:tcPr/>
                </a:tc>
                <a:tc>
                  <a:txBody>
                    <a:bodyPr/>
                    <a:lstStyle/>
                    <a:p>
                      <a:r>
                        <a:rPr lang="en-US" sz="1800" dirty="0"/>
                        <a:t>10 grams</a:t>
                      </a:r>
                    </a:p>
                  </a:txBody>
                  <a:tcPr/>
                </a:tc>
                <a:tc>
                  <a:txBody>
                    <a:bodyPr/>
                    <a:lstStyle/>
                    <a:p>
                      <a:r>
                        <a:rPr lang="en-US" sz="1800" dirty="0"/>
                        <a:t>10 grams</a:t>
                      </a:r>
                    </a:p>
                  </a:txBody>
                  <a:tcPr/>
                </a:tc>
                <a:tc>
                  <a:txBody>
                    <a:bodyPr/>
                    <a:lstStyle/>
                    <a:p>
                      <a:r>
                        <a:rPr lang="en-US" sz="1800" dirty="0"/>
                        <a:t>34</a:t>
                      </a:r>
                    </a:p>
                  </a:txBody>
                  <a:tcPr/>
                </a:tc>
                <a:tc>
                  <a:txBody>
                    <a:bodyPr/>
                    <a:lstStyle/>
                    <a:p>
                      <a:r>
                        <a:rPr lang="en-US" sz="1800" dirty="0"/>
                        <a:t>10 grams</a:t>
                      </a:r>
                    </a:p>
                  </a:txBody>
                  <a:tcPr/>
                </a:tc>
                <a:tc>
                  <a:txBody>
                    <a:bodyPr/>
                    <a:lstStyle/>
                    <a:p>
                      <a:r>
                        <a:rPr lang="en-US" sz="1800" dirty="0"/>
                        <a:t>2 drops</a:t>
                      </a:r>
                    </a:p>
                  </a:txBody>
                  <a:tcPr/>
                </a:tc>
                <a:extLst>
                  <a:ext uri="{0D108BD9-81ED-4DB2-BD59-A6C34878D82A}">
                    <a16:rowId xmlns:a16="http://schemas.microsoft.com/office/drawing/2014/main" val="1387126418"/>
                  </a:ext>
                </a:extLst>
              </a:tr>
              <a:tr h="540446">
                <a:tc>
                  <a:txBody>
                    <a:bodyPr/>
                    <a:lstStyle/>
                    <a:p>
                      <a:r>
                        <a:rPr lang="en-US" dirty="0"/>
                        <a:t>Multilayer painting</a:t>
                      </a:r>
                    </a:p>
                  </a:txBody>
                  <a:tcPr/>
                </a:tc>
                <a:tc>
                  <a:txBody>
                    <a:bodyPr/>
                    <a:lstStyle/>
                    <a:p>
                      <a:r>
                        <a:rPr lang="en-US" sz="1800" dirty="0"/>
                        <a:t>Formula B</a:t>
                      </a:r>
                    </a:p>
                  </a:txBody>
                  <a:tcPr/>
                </a:tc>
                <a:tc>
                  <a:txBody>
                    <a:bodyPr/>
                    <a:lstStyle/>
                    <a:p>
                      <a:r>
                        <a:rPr lang="en-US" sz="1800" dirty="0"/>
                        <a:t>12 grams</a:t>
                      </a:r>
                    </a:p>
                  </a:txBody>
                  <a:tcPr/>
                </a:tc>
                <a:tc>
                  <a:txBody>
                    <a:bodyPr/>
                    <a:lstStyle/>
                    <a:p>
                      <a:r>
                        <a:rPr lang="en-US" sz="1800" dirty="0"/>
                        <a:t>10 grams</a:t>
                      </a:r>
                    </a:p>
                  </a:txBody>
                  <a:tcPr/>
                </a:tc>
                <a:tc>
                  <a:txBody>
                    <a:bodyPr/>
                    <a:lstStyle/>
                    <a:p>
                      <a:r>
                        <a:rPr lang="en-US" sz="1800" dirty="0"/>
                        <a:t>10 grams</a:t>
                      </a:r>
                    </a:p>
                  </a:txBody>
                  <a:tcPr/>
                </a:tc>
                <a:tc>
                  <a:txBody>
                    <a:bodyPr/>
                    <a:lstStyle/>
                    <a:p>
                      <a:r>
                        <a:rPr lang="en-US" sz="1800" dirty="0"/>
                        <a:t>34</a:t>
                      </a:r>
                    </a:p>
                  </a:txBody>
                  <a:tcPr/>
                </a:tc>
                <a:tc>
                  <a:txBody>
                    <a:bodyPr/>
                    <a:lstStyle/>
                    <a:p>
                      <a:r>
                        <a:rPr lang="en-US" sz="1800" dirty="0"/>
                        <a:t>10 grams</a:t>
                      </a:r>
                    </a:p>
                  </a:txBody>
                  <a:tcPr/>
                </a:tc>
                <a:tc>
                  <a:txBody>
                    <a:bodyPr/>
                    <a:lstStyle/>
                    <a:p>
                      <a:r>
                        <a:rPr lang="en-US" sz="1800" dirty="0"/>
                        <a:t>2 drops</a:t>
                      </a:r>
                    </a:p>
                  </a:txBody>
                  <a:tcPr/>
                </a:tc>
                <a:extLst>
                  <a:ext uri="{0D108BD9-81ED-4DB2-BD59-A6C34878D82A}">
                    <a16:rowId xmlns:a16="http://schemas.microsoft.com/office/drawing/2014/main" val="4184958392"/>
                  </a:ext>
                </a:extLst>
              </a:tr>
            </a:tbl>
          </a:graphicData>
        </a:graphic>
      </p:graphicFrame>
      <p:sp>
        <p:nvSpPr>
          <p:cNvPr id="8" name="TextBox 7">
            <a:extLst>
              <a:ext uri="{FF2B5EF4-FFF2-40B4-BE49-F238E27FC236}">
                <a16:creationId xmlns:a16="http://schemas.microsoft.com/office/drawing/2014/main" id="{D0413C29-FFE5-FDC8-E065-D8F5103C84B2}"/>
              </a:ext>
            </a:extLst>
          </p:cNvPr>
          <p:cNvSpPr txBox="1"/>
          <p:nvPr/>
        </p:nvSpPr>
        <p:spPr>
          <a:xfrm>
            <a:off x="838200" y="4714761"/>
            <a:ext cx="8730760" cy="646331"/>
          </a:xfrm>
          <a:prstGeom prst="rect">
            <a:avLst/>
          </a:prstGeom>
          <a:noFill/>
        </p:spPr>
        <p:txBody>
          <a:bodyPr wrap="square">
            <a:spAutoFit/>
          </a:bodyPr>
          <a:lstStyle/>
          <a:p>
            <a:pPr>
              <a:buFont typeface="Arial" panose="020B0604020202020204" pitchFamily="34" charset="0"/>
              <a:buChar char="•"/>
            </a:pPr>
            <a:r>
              <a:rPr lang="en-US" dirty="0"/>
              <a:t>Formula A is created for standard single layer painting.</a:t>
            </a:r>
          </a:p>
          <a:p>
            <a:pPr>
              <a:buFont typeface="Arial" panose="020B0604020202020204" pitchFamily="34" charset="0"/>
              <a:buChar char="•"/>
            </a:pPr>
            <a:r>
              <a:rPr lang="en-US" dirty="0"/>
              <a:t>Formula B is created for multilayer painting. </a:t>
            </a:r>
          </a:p>
        </p:txBody>
      </p:sp>
      <p:sp>
        <p:nvSpPr>
          <p:cNvPr id="12" name="TextBox 11">
            <a:extLst>
              <a:ext uri="{FF2B5EF4-FFF2-40B4-BE49-F238E27FC236}">
                <a16:creationId xmlns:a16="http://schemas.microsoft.com/office/drawing/2014/main" id="{1A844899-642E-CB1B-C901-D62F33197B60}"/>
              </a:ext>
            </a:extLst>
          </p:cNvPr>
          <p:cNvSpPr txBox="1"/>
          <p:nvPr/>
        </p:nvSpPr>
        <p:spPr>
          <a:xfrm>
            <a:off x="18351" y="6308209"/>
            <a:ext cx="1191829" cy="369332"/>
          </a:xfrm>
          <a:prstGeom prst="rect">
            <a:avLst/>
          </a:prstGeom>
          <a:noFill/>
        </p:spPr>
        <p:txBody>
          <a:bodyPr wrap="square" rtlCol="0">
            <a:spAutoFit/>
          </a:bodyPr>
          <a:lstStyle/>
          <a:p>
            <a:r>
              <a:rPr lang="en-US" b="1" dirty="0">
                <a:solidFill>
                  <a:schemeClr val="accent1"/>
                </a:solidFill>
              </a:rPr>
              <a:t>IMPROVE</a:t>
            </a:r>
          </a:p>
        </p:txBody>
      </p:sp>
    </p:spTree>
    <p:extLst>
      <p:ext uri="{BB962C8B-B14F-4D97-AF65-F5344CB8AC3E}">
        <p14:creationId xmlns:p14="http://schemas.microsoft.com/office/powerpoint/2010/main" val="4048896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270E1-2995-5026-ECD3-257F4C2CF812}"/>
              </a:ext>
            </a:extLst>
          </p:cNvPr>
          <p:cNvSpPr>
            <a:spLocks noGrp="1"/>
          </p:cNvSpPr>
          <p:nvPr>
            <p:ph type="title"/>
          </p:nvPr>
        </p:nvSpPr>
        <p:spPr/>
        <p:txBody>
          <a:bodyPr/>
          <a:lstStyle/>
          <a:p>
            <a:r>
              <a:rPr lang="en-US" b="1" dirty="0"/>
              <a:t>Improve – Cost Analysis </a:t>
            </a:r>
            <a:endParaRPr lang="en-US" b="1" dirty="0">
              <a:highlight>
                <a:srgbClr val="C0C0C0"/>
              </a:highlight>
            </a:endParaRPr>
          </a:p>
        </p:txBody>
      </p:sp>
      <p:graphicFrame>
        <p:nvGraphicFramePr>
          <p:cNvPr id="5" name="Table 4">
            <a:extLst>
              <a:ext uri="{FF2B5EF4-FFF2-40B4-BE49-F238E27FC236}">
                <a16:creationId xmlns:a16="http://schemas.microsoft.com/office/drawing/2014/main" id="{2CE1D95D-AFCB-51F1-E35B-480C25CD299B}"/>
              </a:ext>
            </a:extLst>
          </p:cNvPr>
          <p:cNvGraphicFramePr>
            <a:graphicFrameLocks noGrp="1"/>
          </p:cNvGraphicFramePr>
          <p:nvPr>
            <p:extLst>
              <p:ext uri="{D42A27DB-BD31-4B8C-83A1-F6EECF244321}">
                <p14:modId xmlns:p14="http://schemas.microsoft.com/office/powerpoint/2010/main" val="538209273"/>
              </p:ext>
            </p:extLst>
          </p:nvPr>
        </p:nvGraphicFramePr>
        <p:xfrm>
          <a:off x="838199" y="4658071"/>
          <a:ext cx="10694233" cy="1483360"/>
        </p:xfrm>
        <a:graphic>
          <a:graphicData uri="http://schemas.openxmlformats.org/drawingml/2006/table">
            <a:tbl>
              <a:tblPr firstRow="1" bandRow="1">
                <a:tableStyleId>{5C22544A-7EE6-4342-B048-85BDC9FD1C3A}</a:tableStyleId>
              </a:tblPr>
              <a:tblGrid>
                <a:gridCol w="2174824">
                  <a:extLst>
                    <a:ext uri="{9D8B030D-6E8A-4147-A177-3AD203B41FA5}">
                      <a16:colId xmlns:a16="http://schemas.microsoft.com/office/drawing/2014/main" val="2823956951"/>
                    </a:ext>
                  </a:extLst>
                </a:gridCol>
                <a:gridCol w="4452079">
                  <a:extLst>
                    <a:ext uri="{9D8B030D-6E8A-4147-A177-3AD203B41FA5}">
                      <a16:colId xmlns:a16="http://schemas.microsoft.com/office/drawing/2014/main" val="831092531"/>
                    </a:ext>
                  </a:extLst>
                </a:gridCol>
                <a:gridCol w="1484026">
                  <a:extLst>
                    <a:ext uri="{9D8B030D-6E8A-4147-A177-3AD203B41FA5}">
                      <a16:colId xmlns:a16="http://schemas.microsoft.com/office/drawing/2014/main" val="376611286"/>
                    </a:ext>
                  </a:extLst>
                </a:gridCol>
                <a:gridCol w="2583304">
                  <a:extLst>
                    <a:ext uri="{9D8B030D-6E8A-4147-A177-3AD203B41FA5}">
                      <a16:colId xmlns:a16="http://schemas.microsoft.com/office/drawing/2014/main" val="3361360672"/>
                    </a:ext>
                  </a:extLst>
                </a:gridCol>
              </a:tblGrid>
              <a:tr h="370840">
                <a:tc>
                  <a:txBody>
                    <a:bodyPr/>
                    <a:lstStyle/>
                    <a:p>
                      <a:pPr algn="ctr"/>
                      <a:r>
                        <a:rPr lang="en-US" dirty="0"/>
                        <a:t>Product</a:t>
                      </a:r>
                    </a:p>
                  </a:txBody>
                  <a:tcPr/>
                </a:tc>
                <a:tc>
                  <a:txBody>
                    <a:bodyPr/>
                    <a:lstStyle/>
                    <a:p>
                      <a:pPr algn="l"/>
                      <a:r>
                        <a:rPr lang="en-US" dirty="0"/>
                        <a:t>Production cost with store bought paint</a:t>
                      </a:r>
                    </a:p>
                  </a:txBody>
                  <a:tcPr/>
                </a:tc>
                <a:tc>
                  <a:txBody>
                    <a:bodyPr/>
                    <a:lstStyle/>
                    <a:p>
                      <a:pPr algn="ctr"/>
                      <a:r>
                        <a:rPr lang="en-US" dirty="0"/>
                        <a:t>Selling price</a:t>
                      </a:r>
                    </a:p>
                  </a:txBody>
                  <a:tcPr/>
                </a:tc>
                <a:tc>
                  <a:txBody>
                    <a:bodyPr/>
                    <a:lstStyle/>
                    <a:p>
                      <a:pPr algn="ctr"/>
                      <a:r>
                        <a:rPr lang="en-US" dirty="0"/>
                        <a:t>Estimated Gross Margin</a:t>
                      </a:r>
                    </a:p>
                  </a:txBody>
                  <a:tcPr/>
                </a:tc>
                <a:extLst>
                  <a:ext uri="{0D108BD9-81ED-4DB2-BD59-A6C34878D82A}">
                    <a16:rowId xmlns:a16="http://schemas.microsoft.com/office/drawing/2014/main" val="587996480"/>
                  </a:ext>
                </a:extLst>
              </a:tr>
              <a:tr h="370840">
                <a:tc>
                  <a:txBody>
                    <a:bodyPr/>
                    <a:lstStyle/>
                    <a:p>
                      <a:r>
                        <a:rPr lang="en-US" dirty="0"/>
                        <a:t>Mug </a:t>
                      </a:r>
                    </a:p>
                  </a:txBody>
                  <a:tcPr/>
                </a:tc>
                <a:tc>
                  <a:txBody>
                    <a:bodyPr/>
                    <a:lstStyle/>
                    <a:p>
                      <a:pPr algn="r"/>
                      <a:r>
                        <a:rPr lang="en-US" dirty="0"/>
                        <a:t>$2.19</a:t>
                      </a:r>
                    </a:p>
                  </a:txBody>
                  <a:tcPr/>
                </a:tc>
                <a:tc>
                  <a:txBody>
                    <a:bodyPr/>
                    <a:lstStyle/>
                    <a:p>
                      <a:pPr algn="r"/>
                      <a:r>
                        <a:rPr lang="en-US" dirty="0"/>
                        <a:t>$18.00</a:t>
                      </a:r>
                    </a:p>
                  </a:txBody>
                  <a:tcPr/>
                </a:tc>
                <a:tc>
                  <a:txBody>
                    <a:bodyPr/>
                    <a:lstStyle/>
                    <a:p>
                      <a:pPr algn="r"/>
                      <a:r>
                        <a:rPr lang="en-US" b="1" dirty="0"/>
                        <a:t>$15.81</a:t>
                      </a:r>
                    </a:p>
                  </a:txBody>
                  <a:tcPr/>
                </a:tc>
                <a:extLst>
                  <a:ext uri="{0D108BD9-81ED-4DB2-BD59-A6C34878D82A}">
                    <a16:rowId xmlns:a16="http://schemas.microsoft.com/office/drawing/2014/main" val="435959805"/>
                  </a:ext>
                </a:extLst>
              </a:tr>
              <a:tr h="370840">
                <a:tc>
                  <a:txBody>
                    <a:bodyPr/>
                    <a:lstStyle/>
                    <a:p>
                      <a:r>
                        <a:rPr lang="en-US" dirty="0"/>
                        <a:t>Bowl</a:t>
                      </a:r>
                    </a:p>
                  </a:txBody>
                  <a:tcPr/>
                </a:tc>
                <a:tc>
                  <a:txBody>
                    <a:bodyPr/>
                    <a:lstStyle/>
                    <a:p>
                      <a:pPr algn="r"/>
                      <a:r>
                        <a:rPr lang="en-US" dirty="0"/>
                        <a:t>$2.19</a:t>
                      </a:r>
                    </a:p>
                  </a:txBody>
                  <a:tcPr/>
                </a:tc>
                <a:tc>
                  <a:txBody>
                    <a:bodyPr/>
                    <a:lstStyle/>
                    <a:p>
                      <a:pPr algn="r"/>
                      <a:r>
                        <a:rPr lang="en-US" dirty="0"/>
                        <a:t>$10.00</a:t>
                      </a:r>
                    </a:p>
                  </a:txBody>
                  <a:tcPr/>
                </a:tc>
                <a:tc>
                  <a:txBody>
                    <a:bodyPr/>
                    <a:lstStyle/>
                    <a:p>
                      <a:pPr algn="r"/>
                      <a:r>
                        <a:rPr lang="en-US" b="1" dirty="0"/>
                        <a:t>$7.81</a:t>
                      </a:r>
                    </a:p>
                  </a:txBody>
                  <a:tcPr/>
                </a:tc>
                <a:extLst>
                  <a:ext uri="{0D108BD9-81ED-4DB2-BD59-A6C34878D82A}">
                    <a16:rowId xmlns:a16="http://schemas.microsoft.com/office/drawing/2014/main" val="2703075101"/>
                  </a:ext>
                </a:extLst>
              </a:tr>
              <a:tr h="370840">
                <a:tc>
                  <a:txBody>
                    <a:bodyPr/>
                    <a:lstStyle/>
                    <a:p>
                      <a:r>
                        <a:rPr lang="en-US" dirty="0"/>
                        <a:t>Plate</a:t>
                      </a:r>
                    </a:p>
                  </a:txBody>
                  <a:tcPr/>
                </a:tc>
                <a:tc>
                  <a:txBody>
                    <a:bodyPr/>
                    <a:lstStyle/>
                    <a:p>
                      <a:pPr algn="r"/>
                      <a:r>
                        <a:rPr lang="en-US" dirty="0"/>
                        <a:t>$2.55</a:t>
                      </a:r>
                    </a:p>
                  </a:txBody>
                  <a:tcPr/>
                </a:tc>
                <a:tc>
                  <a:txBody>
                    <a:bodyPr/>
                    <a:lstStyle/>
                    <a:p>
                      <a:pPr algn="r"/>
                      <a:r>
                        <a:rPr lang="en-US" dirty="0"/>
                        <a:t>$15.00</a:t>
                      </a:r>
                    </a:p>
                  </a:txBody>
                  <a:tcPr/>
                </a:tc>
                <a:tc>
                  <a:txBody>
                    <a:bodyPr/>
                    <a:lstStyle/>
                    <a:p>
                      <a:pPr algn="r"/>
                      <a:r>
                        <a:rPr lang="en-US" b="1" dirty="0"/>
                        <a:t>$12.45</a:t>
                      </a:r>
                    </a:p>
                  </a:txBody>
                  <a:tcPr/>
                </a:tc>
                <a:extLst>
                  <a:ext uri="{0D108BD9-81ED-4DB2-BD59-A6C34878D82A}">
                    <a16:rowId xmlns:a16="http://schemas.microsoft.com/office/drawing/2014/main" val="1064779688"/>
                  </a:ext>
                </a:extLst>
              </a:tr>
            </a:tbl>
          </a:graphicData>
        </a:graphic>
      </p:graphicFrame>
      <p:graphicFrame>
        <p:nvGraphicFramePr>
          <p:cNvPr id="7" name="Table 6">
            <a:extLst>
              <a:ext uri="{FF2B5EF4-FFF2-40B4-BE49-F238E27FC236}">
                <a16:creationId xmlns:a16="http://schemas.microsoft.com/office/drawing/2014/main" id="{5304080C-5970-DEF0-0552-1B56E4B7068F}"/>
              </a:ext>
            </a:extLst>
          </p:cNvPr>
          <p:cNvGraphicFramePr>
            <a:graphicFrameLocks noGrp="1"/>
          </p:cNvGraphicFramePr>
          <p:nvPr>
            <p:extLst>
              <p:ext uri="{D42A27DB-BD31-4B8C-83A1-F6EECF244321}">
                <p14:modId xmlns:p14="http://schemas.microsoft.com/office/powerpoint/2010/main" val="440218394"/>
              </p:ext>
            </p:extLst>
          </p:nvPr>
        </p:nvGraphicFramePr>
        <p:xfrm>
          <a:off x="838200" y="1424066"/>
          <a:ext cx="10694232" cy="1511128"/>
        </p:xfrm>
        <a:graphic>
          <a:graphicData uri="http://schemas.openxmlformats.org/drawingml/2006/table">
            <a:tbl>
              <a:tblPr firstRow="1" bandRow="1">
                <a:tableStyleId>{5C22544A-7EE6-4342-B048-85BDC9FD1C3A}</a:tableStyleId>
              </a:tblPr>
              <a:tblGrid>
                <a:gridCol w="5294137">
                  <a:extLst>
                    <a:ext uri="{9D8B030D-6E8A-4147-A177-3AD203B41FA5}">
                      <a16:colId xmlns:a16="http://schemas.microsoft.com/office/drawing/2014/main" val="2144962847"/>
                    </a:ext>
                  </a:extLst>
                </a:gridCol>
                <a:gridCol w="5400095">
                  <a:extLst>
                    <a:ext uri="{9D8B030D-6E8A-4147-A177-3AD203B41FA5}">
                      <a16:colId xmlns:a16="http://schemas.microsoft.com/office/drawing/2014/main" val="1959781398"/>
                    </a:ext>
                  </a:extLst>
                </a:gridCol>
              </a:tblGrid>
              <a:tr h="397216">
                <a:tc>
                  <a:txBody>
                    <a:bodyPr/>
                    <a:lstStyle/>
                    <a:p>
                      <a:pPr algn="ctr"/>
                      <a:r>
                        <a:rPr lang="en-US" dirty="0"/>
                        <a:t>Paint Type</a:t>
                      </a:r>
                    </a:p>
                  </a:txBody>
                  <a:tcPr/>
                </a:tc>
                <a:tc>
                  <a:txBody>
                    <a:bodyPr/>
                    <a:lstStyle/>
                    <a:p>
                      <a:pPr algn="r"/>
                      <a:r>
                        <a:rPr lang="en-US" dirty="0"/>
                        <a:t>Cost per 40g  Batch </a:t>
                      </a:r>
                    </a:p>
                  </a:txBody>
                  <a:tcPr/>
                </a:tc>
                <a:extLst>
                  <a:ext uri="{0D108BD9-81ED-4DB2-BD59-A6C34878D82A}">
                    <a16:rowId xmlns:a16="http://schemas.microsoft.com/office/drawing/2014/main" val="2748682583"/>
                  </a:ext>
                </a:extLst>
              </a:tr>
              <a:tr h="371304">
                <a:tc>
                  <a:txBody>
                    <a:bodyPr/>
                    <a:lstStyle/>
                    <a:p>
                      <a:r>
                        <a:rPr lang="en-US" dirty="0"/>
                        <a:t>Store bought paint </a:t>
                      </a:r>
                    </a:p>
                  </a:txBody>
                  <a:tcPr/>
                </a:tc>
                <a:tc>
                  <a:txBody>
                    <a:bodyPr/>
                    <a:lstStyle/>
                    <a:p>
                      <a:pPr algn="r"/>
                      <a:r>
                        <a:rPr lang="en-US" dirty="0"/>
                        <a:t>$8.51</a:t>
                      </a:r>
                    </a:p>
                  </a:txBody>
                  <a:tcPr/>
                </a:tc>
                <a:extLst>
                  <a:ext uri="{0D108BD9-81ED-4DB2-BD59-A6C34878D82A}">
                    <a16:rowId xmlns:a16="http://schemas.microsoft.com/office/drawing/2014/main" val="4032831815"/>
                  </a:ext>
                </a:extLst>
              </a:tr>
              <a:tr h="371304">
                <a:tc>
                  <a:txBody>
                    <a:bodyPr/>
                    <a:lstStyle/>
                    <a:p>
                      <a:r>
                        <a:rPr lang="en-US" dirty="0"/>
                        <a:t>Homemade paint</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$2.76</a:t>
                      </a:r>
                    </a:p>
                  </a:txBody>
                  <a:tcPr/>
                </a:tc>
                <a:extLst>
                  <a:ext uri="{0D108BD9-81ED-4DB2-BD59-A6C34878D82A}">
                    <a16:rowId xmlns:a16="http://schemas.microsoft.com/office/drawing/2014/main" val="2852811739"/>
                  </a:ext>
                </a:extLst>
              </a:tr>
              <a:tr h="371304">
                <a:tc>
                  <a:txBody>
                    <a:bodyPr/>
                    <a:lstStyle/>
                    <a:p>
                      <a:r>
                        <a:rPr lang="en-US" dirty="0"/>
                        <a:t>Saving per batch </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rPr>
                        <a:t>$5.75</a:t>
                      </a:r>
                    </a:p>
                  </a:txBody>
                  <a:tcPr/>
                </a:tc>
                <a:extLst>
                  <a:ext uri="{0D108BD9-81ED-4DB2-BD59-A6C34878D82A}">
                    <a16:rowId xmlns:a16="http://schemas.microsoft.com/office/drawing/2014/main" val="3776914737"/>
                  </a:ext>
                </a:extLst>
              </a:tr>
            </a:tbl>
          </a:graphicData>
        </a:graphic>
      </p:graphicFrame>
      <p:sp>
        <p:nvSpPr>
          <p:cNvPr id="12" name="TextBox 11">
            <a:extLst>
              <a:ext uri="{FF2B5EF4-FFF2-40B4-BE49-F238E27FC236}">
                <a16:creationId xmlns:a16="http://schemas.microsoft.com/office/drawing/2014/main" id="{B9E40702-3A9D-4546-7112-027E762917DB}"/>
              </a:ext>
            </a:extLst>
          </p:cNvPr>
          <p:cNvSpPr txBox="1"/>
          <p:nvPr/>
        </p:nvSpPr>
        <p:spPr>
          <a:xfrm>
            <a:off x="18351" y="6308209"/>
            <a:ext cx="1191829" cy="369332"/>
          </a:xfrm>
          <a:prstGeom prst="rect">
            <a:avLst/>
          </a:prstGeom>
          <a:noFill/>
        </p:spPr>
        <p:txBody>
          <a:bodyPr wrap="square" rtlCol="0">
            <a:spAutoFit/>
          </a:bodyPr>
          <a:lstStyle/>
          <a:p>
            <a:r>
              <a:rPr lang="en-US" b="1" dirty="0">
                <a:solidFill>
                  <a:schemeClr val="accent1"/>
                </a:solidFill>
              </a:rPr>
              <a:t>IMPROVE</a:t>
            </a:r>
          </a:p>
        </p:txBody>
      </p:sp>
      <p:graphicFrame>
        <p:nvGraphicFramePr>
          <p:cNvPr id="14" name="Table 13">
            <a:extLst>
              <a:ext uri="{FF2B5EF4-FFF2-40B4-BE49-F238E27FC236}">
                <a16:creationId xmlns:a16="http://schemas.microsoft.com/office/drawing/2014/main" id="{2B5AD044-BFD3-5D9B-853F-24BD20508C3A}"/>
              </a:ext>
            </a:extLst>
          </p:cNvPr>
          <p:cNvGraphicFramePr>
            <a:graphicFrameLocks noGrp="1"/>
          </p:cNvGraphicFramePr>
          <p:nvPr>
            <p:extLst>
              <p:ext uri="{D42A27DB-BD31-4B8C-83A1-F6EECF244321}">
                <p14:modId xmlns:p14="http://schemas.microsoft.com/office/powerpoint/2010/main" val="3195784034"/>
              </p:ext>
            </p:extLst>
          </p:nvPr>
        </p:nvGraphicFramePr>
        <p:xfrm>
          <a:off x="838200" y="3018583"/>
          <a:ext cx="10694232" cy="1483360"/>
        </p:xfrm>
        <a:graphic>
          <a:graphicData uri="http://schemas.openxmlformats.org/drawingml/2006/table">
            <a:tbl>
              <a:tblPr firstRow="1" bandRow="1">
                <a:tableStyleId>{5C22544A-7EE6-4342-B048-85BDC9FD1C3A}</a:tableStyleId>
              </a:tblPr>
              <a:tblGrid>
                <a:gridCol w="2219793">
                  <a:extLst>
                    <a:ext uri="{9D8B030D-6E8A-4147-A177-3AD203B41FA5}">
                      <a16:colId xmlns:a16="http://schemas.microsoft.com/office/drawing/2014/main" val="2483003606"/>
                    </a:ext>
                  </a:extLst>
                </a:gridCol>
                <a:gridCol w="4422100">
                  <a:extLst>
                    <a:ext uri="{9D8B030D-6E8A-4147-A177-3AD203B41FA5}">
                      <a16:colId xmlns:a16="http://schemas.microsoft.com/office/drawing/2014/main" val="2250986909"/>
                    </a:ext>
                  </a:extLst>
                </a:gridCol>
                <a:gridCol w="1484026">
                  <a:extLst>
                    <a:ext uri="{9D8B030D-6E8A-4147-A177-3AD203B41FA5}">
                      <a16:colId xmlns:a16="http://schemas.microsoft.com/office/drawing/2014/main" val="2055899108"/>
                    </a:ext>
                  </a:extLst>
                </a:gridCol>
                <a:gridCol w="2568313">
                  <a:extLst>
                    <a:ext uri="{9D8B030D-6E8A-4147-A177-3AD203B41FA5}">
                      <a16:colId xmlns:a16="http://schemas.microsoft.com/office/drawing/2014/main" val="3354203970"/>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Product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Production cost  with homemade paint</a:t>
                      </a:r>
                    </a:p>
                  </a:txBody>
                  <a:tcPr/>
                </a:tc>
                <a:tc>
                  <a:txBody>
                    <a:bodyPr/>
                    <a:lstStyle/>
                    <a:p>
                      <a:pPr algn="r"/>
                      <a:r>
                        <a:rPr lang="en-US" dirty="0"/>
                        <a:t>Selling price</a:t>
                      </a:r>
                    </a:p>
                  </a:txBody>
                  <a:tcPr/>
                </a:tc>
                <a:tc>
                  <a:txBody>
                    <a:bodyPr/>
                    <a:lstStyle/>
                    <a:p>
                      <a:pPr algn="r"/>
                      <a:r>
                        <a:rPr lang="en-US" dirty="0"/>
                        <a:t>Estimated Gross Margin</a:t>
                      </a:r>
                    </a:p>
                  </a:txBody>
                  <a:tcPr/>
                </a:tc>
                <a:extLst>
                  <a:ext uri="{0D108BD9-81ED-4DB2-BD59-A6C34878D82A}">
                    <a16:rowId xmlns:a16="http://schemas.microsoft.com/office/drawing/2014/main" val="230768666"/>
                  </a:ext>
                </a:extLst>
              </a:tr>
              <a:tr h="370840">
                <a:tc>
                  <a:txBody>
                    <a:bodyPr/>
                    <a:lstStyle/>
                    <a:p>
                      <a:pPr marL="0" algn="l" defTabSz="914400" rtl="0" eaLnBrk="1" latinLnBrk="0" hangingPunct="1"/>
                      <a:r>
                        <a:rPr lang="en-US" dirty="0"/>
                        <a:t>Mug</a:t>
                      </a:r>
                    </a:p>
                  </a:txBody>
                  <a:tcPr/>
                </a:tc>
                <a:tc>
                  <a:txBody>
                    <a:bodyPr/>
                    <a:lstStyle/>
                    <a:p>
                      <a:pPr marL="0" algn="r" defTabSz="914400" rtl="0" eaLnBrk="1" latinLnBrk="0" hangingPunct="1"/>
                      <a:r>
                        <a:rPr lang="en-US" dirty="0"/>
                        <a:t>$2.00</a:t>
                      </a:r>
                    </a:p>
                  </a:txBody>
                  <a:tcPr/>
                </a:tc>
                <a:tc>
                  <a:txBody>
                    <a:bodyPr/>
                    <a:lstStyle/>
                    <a:p>
                      <a:pPr algn="r"/>
                      <a:r>
                        <a:rPr lang="en-US" dirty="0"/>
                        <a:t>$18.00</a:t>
                      </a:r>
                    </a:p>
                  </a:txBody>
                  <a:tcPr/>
                </a:tc>
                <a:tc>
                  <a:txBody>
                    <a:bodyPr/>
                    <a:lstStyle/>
                    <a:p>
                      <a:pPr marL="0" algn="r" defTabSz="914400" rtl="0" eaLnBrk="1" latinLnBrk="0" hangingPunct="1"/>
                      <a:r>
                        <a:rPr lang="en-US" b="1" dirty="0"/>
                        <a:t>$16.00</a:t>
                      </a:r>
                    </a:p>
                  </a:txBody>
                  <a:tcPr/>
                </a:tc>
                <a:extLst>
                  <a:ext uri="{0D108BD9-81ED-4DB2-BD59-A6C34878D82A}">
                    <a16:rowId xmlns:a16="http://schemas.microsoft.com/office/drawing/2014/main" val="3038411721"/>
                  </a:ext>
                </a:extLst>
              </a:tr>
              <a:tr h="370840">
                <a:tc>
                  <a:txBody>
                    <a:bodyPr/>
                    <a:lstStyle/>
                    <a:p>
                      <a:pPr marL="0" algn="l" defTabSz="914400" rtl="0" eaLnBrk="1" latinLnBrk="0" hangingPunct="1"/>
                      <a:r>
                        <a:rPr lang="en-US" dirty="0"/>
                        <a:t>Bowl</a:t>
                      </a:r>
                    </a:p>
                  </a:txBody>
                  <a:tcPr/>
                </a:tc>
                <a:tc>
                  <a:txBody>
                    <a:bodyPr/>
                    <a:lstStyle/>
                    <a:p>
                      <a:pPr marL="0" algn="r" defTabSz="914400" rtl="0" eaLnBrk="1" latinLnBrk="0" hangingPunct="1"/>
                      <a:r>
                        <a:rPr lang="en-US" dirty="0"/>
                        <a:t>$2.00</a:t>
                      </a:r>
                    </a:p>
                  </a:txBody>
                  <a:tcPr/>
                </a:tc>
                <a:tc>
                  <a:txBody>
                    <a:bodyPr/>
                    <a:lstStyle/>
                    <a:p>
                      <a:pPr algn="r"/>
                      <a:r>
                        <a:rPr lang="en-US" dirty="0"/>
                        <a:t>$10.00</a:t>
                      </a:r>
                    </a:p>
                  </a:txBody>
                  <a:tcPr/>
                </a:tc>
                <a:tc>
                  <a:txBody>
                    <a:bodyPr/>
                    <a:lstStyle/>
                    <a:p>
                      <a:pPr marL="0" algn="r" defTabSz="914400" rtl="0" eaLnBrk="1" latinLnBrk="0" hangingPunct="1"/>
                      <a:r>
                        <a:rPr lang="en-US" b="1" dirty="0"/>
                        <a:t>$8.00</a:t>
                      </a:r>
                    </a:p>
                  </a:txBody>
                  <a:tcPr/>
                </a:tc>
                <a:extLst>
                  <a:ext uri="{0D108BD9-81ED-4DB2-BD59-A6C34878D82A}">
                    <a16:rowId xmlns:a16="http://schemas.microsoft.com/office/drawing/2014/main" val="650353296"/>
                  </a:ext>
                </a:extLst>
              </a:tr>
              <a:tr h="370840">
                <a:tc>
                  <a:txBody>
                    <a:bodyPr/>
                    <a:lstStyle/>
                    <a:p>
                      <a:pPr marL="0" algn="l" defTabSz="914400" rtl="0" eaLnBrk="1" latinLnBrk="0" hangingPunct="1"/>
                      <a:r>
                        <a:rPr lang="en-US" dirty="0"/>
                        <a:t>Plate</a:t>
                      </a:r>
                    </a:p>
                  </a:txBody>
                  <a:tcPr/>
                </a:tc>
                <a:tc>
                  <a:txBody>
                    <a:bodyPr/>
                    <a:lstStyle/>
                    <a:p>
                      <a:pPr marL="0" algn="r" defTabSz="914400" rtl="0" eaLnBrk="1" latinLnBrk="0" hangingPunct="1"/>
                      <a:r>
                        <a:rPr lang="en-US" dirty="0"/>
                        <a:t>$2.26</a:t>
                      </a:r>
                    </a:p>
                  </a:txBody>
                  <a:tcPr/>
                </a:tc>
                <a:tc>
                  <a:txBody>
                    <a:bodyPr/>
                    <a:lstStyle/>
                    <a:p>
                      <a:pPr algn="r"/>
                      <a:r>
                        <a:rPr lang="en-US" dirty="0"/>
                        <a:t>$15.00</a:t>
                      </a:r>
                    </a:p>
                  </a:txBody>
                  <a:tcPr/>
                </a:tc>
                <a:tc>
                  <a:txBody>
                    <a:bodyPr/>
                    <a:lstStyle/>
                    <a:p>
                      <a:pPr marL="0" algn="r" defTabSz="914400" rtl="0" eaLnBrk="1" latinLnBrk="0" hangingPunct="1"/>
                      <a:r>
                        <a:rPr lang="en-US" b="1" dirty="0"/>
                        <a:t>$12.74</a:t>
                      </a:r>
                    </a:p>
                  </a:txBody>
                  <a:tcPr/>
                </a:tc>
                <a:extLst>
                  <a:ext uri="{0D108BD9-81ED-4DB2-BD59-A6C34878D82A}">
                    <a16:rowId xmlns:a16="http://schemas.microsoft.com/office/drawing/2014/main" val="3656654562"/>
                  </a:ext>
                </a:extLst>
              </a:tr>
            </a:tbl>
          </a:graphicData>
        </a:graphic>
      </p:graphicFrame>
    </p:spTree>
    <p:extLst>
      <p:ext uri="{BB962C8B-B14F-4D97-AF65-F5344CB8AC3E}">
        <p14:creationId xmlns:p14="http://schemas.microsoft.com/office/powerpoint/2010/main" val="1137972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0FE6A-0D44-FE9F-1C5A-7FF53E71F78E}"/>
              </a:ext>
            </a:extLst>
          </p:cNvPr>
          <p:cNvSpPr>
            <a:spLocks noGrp="1"/>
          </p:cNvSpPr>
          <p:nvPr>
            <p:ph type="title"/>
          </p:nvPr>
        </p:nvSpPr>
        <p:spPr/>
        <p:txBody>
          <a:bodyPr/>
          <a:lstStyle/>
          <a:p>
            <a:r>
              <a:rPr lang="en-US" b="1" dirty="0"/>
              <a:t>Improve- Cost Analysis Summary</a:t>
            </a:r>
          </a:p>
        </p:txBody>
      </p:sp>
      <p:sp>
        <p:nvSpPr>
          <p:cNvPr id="3" name="Content Placeholder 2">
            <a:extLst>
              <a:ext uri="{FF2B5EF4-FFF2-40B4-BE49-F238E27FC236}">
                <a16:creationId xmlns:a16="http://schemas.microsoft.com/office/drawing/2014/main" id="{F0E1EF9A-0705-0F4F-93E9-C3119520C1CF}"/>
              </a:ext>
            </a:extLst>
          </p:cNvPr>
          <p:cNvSpPr>
            <a:spLocks noGrp="1"/>
          </p:cNvSpPr>
          <p:nvPr>
            <p:ph idx="1"/>
          </p:nvPr>
        </p:nvSpPr>
        <p:spPr>
          <a:xfrm>
            <a:off x="570570" y="1958317"/>
            <a:ext cx="10515600" cy="4349892"/>
          </a:xfrm>
        </p:spPr>
        <p:txBody>
          <a:bodyPr/>
          <a:lstStyle/>
          <a:p>
            <a:pPr marL="0" indent="0">
              <a:buNone/>
            </a:pPr>
            <a:r>
              <a:rPr lang="en-US" dirty="0"/>
              <a:t>Pottery materials represent a relatively small portion of the final product value. While using homemade paint can reduce material costs significantly, the largest financial impact comes from preventing defects. Each defective product can result in the loss of materials, labor time, kiln usage, and potential sales revenue. Therefore, reducing paint-related defects is more important than only lowering paint costs, because preventing a defective product preserves the full value of the finished piece.</a:t>
            </a:r>
            <a:endParaRPr lang="en-US" dirty="0">
              <a:highlight>
                <a:srgbClr val="C0C0C0"/>
              </a:highlight>
            </a:endParaRPr>
          </a:p>
        </p:txBody>
      </p:sp>
      <p:sp>
        <p:nvSpPr>
          <p:cNvPr id="4" name="TextBox 3">
            <a:extLst>
              <a:ext uri="{FF2B5EF4-FFF2-40B4-BE49-F238E27FC236}">
                <a16:creationId xmlns:a16="http://schemas.microsoft.com/office/drawing/2014/main" id="{9F0C93A1-C95A-6262-60B4-72C78D393ADA}"/>
              </a:ext>
            </a:extLst>
          </p:cNvPr>
          <p:cNvSpPr txBox="1"/>
          <p:nvPr/>
        </p:nvSpPr>
        <p:spPr>
          <a:xfrm>
            <a:off x="18351" y="6308209"/>
            <a:ext cx="1191829" cy="369332"/>
          </a:xfrm>
          <a:prstGeom prst="rect">
            <a:avLst/>
          </a:prstGeom>
          <a:noFill/>
        </p:spPr>
        <p:txBody>
          <a:bodyPr wrap="square" rtlCol="0">
            <a:spAutoFit/>
          </a:bodyPr>
          <a:lstStyle/>
          <a:p>
            <a:r>
              <a:rPr lang="en-US" b="1" dirty="0">
                <a:solidFill>
                  <a:schemeClr val="accent1"/>
                </a:solidFill>
              </a:rPr>
              <a:t>IMPROVE</a:t>
            </a:r>
          </a:p>
        </p:txBody>
      </p:sp>
    </p:spTree>
    <p:extLst>
      <p:ext uri="{BB962C8B-B14F-4D97-AF65-F5344CB8AC3E}">
        <p14:creationId xmlns:p14="http://schemas.microsoft.com/office/powerpoint/2010/main" val="42621595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28198-481F-7D8E-A3CC-B910B51AE1E4}"/>
              </a:ext>
            </a:extLst>
          </p:cNvPr>
          <p:cNvSpPr>
            <a:spLocks noGrp="1"/>
          </p:cNvSpPr>
          <p:nvPr>
            <p:ph type="title"/>
          </p:nvPr>
        </p:nvSpPr>
        <p:spPr/>
        <p:txBody>
          <a:bodyPr/>
          <a:lstStyle/>
          <a:p>
            <a:r>
              <a:rPr lang="en-US" b="1" dirty="0"/>
              <a:t>Recommendations- Control</a:t>
            </a:r>
            <a:endParaRPr lang="en-US" b="1" dirty="0">
              <a:highlight>
                <a:srgbClr val="C0C0C0"/>
              </a:highlight>
            </a:endParaRPr>
          </a:p>
        </p:txBody>
      </p:sp>
      <p:sp>
        <p:nvSpPr>
          <p:cNvPr id="7" name="TextBox 6">
            <a:extLst>
              <a:ext uri="{FF2B5EF4-FFF2-40B4-BE49-F238E27FC236}">
                <a16:creationId xmlns:a16="http://schemas.microsoft.com/office/drawing/2014/main" id="{5BC5CCFA-34EB-20DA-AE19-F5FE9F8145AB}"/>
              </a:ext>
            </a:extLst>
          </p:cNvPr>
          <p:cNvSpPr txBox="1"/>
          <p:nvPr/>
        </p:nvSpPr>
        <p:spPr>
          <a:xfrm>
            <a:off x="251208" y="6337734"/>
            <a:ext cx="2263392" cy="369332"/>
          </a:xfrm>
          <a:prstGeom prst="rect">
            <a:avLst/>
          </a:prstGeom>
          <a:noFill/>
        </p:spPr>
        <p:txBody>
          <a:bodyPr wrap="square" rtlCol="0">
            <a:spAutoFit/>
          </a:bodyPr>
          <a:lstStyle/>
          <a:p>
            <a:r>
              <a:rPr lang="en-US" b="1" dirty="0">
                <a:solidFill>
                  <a:schemeClr val="accent1"/>
                </a:solidFill>
              </a:rPr>
              <a:t>RECOMMENDATIOS</a:t>
            </a:r>
          </a:p>
        </p:txBody>
      </p:sp>
      <p:graphicFrame>
        <p:nvGraphicFramePr>
          <p:cNvPr id="8" name="Table 7">
            <a:extLst>
              <a:ext uri="{FF2B5EF4-FFF2-40B4-BE49-F238E27FC236}">
                <a16:creationId xmlns:a16="http://schemas.microsoft.com/office/drawing/2014/main" id="{8D7C34F3-DDE3-76C9-9510-03B8A5C18FEA}"/>
              </a:ext>
            </a:extLst>
          </p:cNvPr>
          <p:cNvGraphicFramePr>
            <a:graphicFrameLocks noGrp="1"/>
          </p:cNvGraphicFramePr>
          <p:nvPr>
            <p:extLst>
              <p:ext uri="{D42A27DB-BD31-4B8C-83A1-F6EECF244321}">
                <p14:modId xmlns:p14="http://schemas.microsoft.com/office/powerpoint/2010/main" val="1563942413"/>
              </p:ext>
            </p:extLst>
          </p:nvPr>
        </p:nvGraphicFramePr>
        <p:xfrm>
          <a:off x="838200" y="1789171"/>
          <a:ext cx="9026051" cy="2225040"/>
        </p:xfrm>
        <a:graphic>
          <a:graphicData uri="http://schemas.openxmlformats.org/drawingml/2006/table">
            <a:tbl>
              <a:tblPr firstRow="1" bandRow="1">
                <a:tableStyleId>{5C22544A-7EE6-4342-B048-85BDC9FD1C3A}</a:tableStyleId>
              </a:tblPr>
              <a:tblGrid>
                <a:gridCol w="5213050">
                  <a:extLst>
                    <a:ext uri="{9D8B030D-6E8A-4147-A177-3AD203B41FA5}">
                      <a16:colId xmlns:a16="http://schemas.microsoft.com/office/drawing/2014/main" val="3227643812"/>
                    </a:ext>
                  </a:extLst>
                </a:gridCol>
                <a:gridCol w="3813001">
                  <a:extLst>
                    <a:ext uri="{9D8B030D-6E8A-4147-A177-3AD203B41FA5}">
                      <a16:colId xmlns:a16="http://schemas.microsoft.com/office/drawing/2014/main" val="965806979"/>
                    </a:ext>
                  </a:extLst>
                </a:gridCol>
              </a:tblGrid>
              <a:tr h="370840">
                <a:tc>
                  <a:txBody>
                    <a:bodyPr/>
                    <a:lstStyle/>
                    <a:p>
                      <a:r>
                        <a:rPr lang="en-US" dirty="0"/>
                        <a:t>Control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Purpose</a:t>
                      </a:r>
                    </a:p>
                  </a:txBody>
                  <a:tcPr/>
                </a:tc>
                <a:extLst>
                  <a:ext uri="{0D108BD9-81ED-4DB2-BD59-A6C34878D82A}">
                    <a16:rowId xmlns:a16="http://schemas.microsoft.com/office/drawing/2014/main" val="3502104266"/>
                  </a:ext>
                </a:extLst>
              </a:tr>
              <a:tr h="370840">
                <a:tc>
                  <a:txBody>
                    <a:bodyPr/>
                    <a:lstStyle/>
                    <a:p>
                      <a:r>
                        <a:rPr lang="en-US" dirty="0"/>
                        <a:t>Standard Formula A</a:t>
                      </a:r>
                    </a:p>
                  </a:txBody>
                  <a:tcPr/>
                </a:tc>
                <a:tc>
                  <a:txBody>
                    <a:bodyPr/>
                    <a:lstStyle/>
                    <a:p>
                      <a:r>
                        <a:rPr lang="en-US" dirty="0"/>
                        <a:t>Single layer paint applications</a:t>
                      </a:r>
                    </a:p>
                  </a:txBody>
                  <a:tcPr/>
                </a:tc>
                <a:extLst>
                  <a:ext uri="{0D108BD9-81ED-4DB2-BD59-A6C34878D82A}">
                    <a16:rowId xmlns:a16="http://schemas.microsoft.com/office/drawing/2014/main" val="1232379723"/>
                  </a:ext>
                </a:extLst>
              </a:tr>
              <a:tr h="370840">
                <a:tc>
                  <a:txBody>
                    <a:bodyPr/>
                    <a:lstStyle/>
                    <a:p>
                      <a:r>
                        <a:rPr lang="en-US" dirty="0"/>
                        <a:t>Standard Formula B</a:t>
                      </a:r>
                    </a:p>
                  </a:txBody>
                  <a:tcPr/>
                </a:tc>
                <a:tc>
                  <a:txBody>
                    <a:bodyPr/>
                    <a:lstStyle/>
                    <a:p>
                      <a:r>
                        <a:rPr lang="en-US" dirty="0"/>
                        <a:t>Multilayer paint applications</a:t>
                      </a:r>
                    </a:p>
                  </a:txBody>
                  <a:tcPr/>
                </a:tc>
                <a:extLst>
                  <a:ext uri="{0D108BD9-81ED-4DB2-BD59-A6C34878D82A}">
                    <a16:rowId xmlns:a16="http://schemas.microsoft.com/office/drawing/2014/main" val="985571450"/>
                  </a:ext>
                </a:extLst>
              </a:tr>
              <a:tr h="370840">
                <a:tc>
                  <a:txBody>
                    <a:bodyPr/>
                    <a:lstStyle/>
                    <a:p>
                      <a:r>
                        <a:rPr lang="en-US" dirty="0"/>
                        <a:t>Measure ingredients by weight before mixing </a:t>
                      </a:r>
                    </a:p>
                  </a:txBody>
                  <a:tcPr/>
                </a:tc>
                <a:tc>
                  <a:txBody>
                    <a:bodyPr/>
                    <a:lstStyle/>
                    <a:p>
                      <a:r>
                        <a:rPr lang="en-US" dirty="0"/>
                        <a:t>Ensure consistency</a:t>
                      </a:r>
                    </a:p>
                  </a:txBody>
                  <a:tcPr/>
                </a:tc>
                <a:extLst>
                  <a:ext uri="{0D108BD9-81ED-4DB2-BD59-A6C34878D82A}">
                    <a16:rowId xmlns:a16="http://schemas.microsoft.com/office/drawing/2014/main" val="42699857"/>
                  </a:ext>
                </a:extLst>
              </a:tr>
              <a:tr h="370840">
                <a:tc>
                  <a:txBody>
                    <a:bodyPr/>
                    <a:lstStyle/>
                    <a:p>
                      <a:r>
                        <a:rPr lang="en-US" dirty="0"/>
                        <a:t>Use a standardized multilayer application checklist</a:t>
                      </a:r>
                    </a:p>
                  </a:txBody>
                  <a:tcPr/>
                </a:tc>
                <a:tc>
                  <a:txBody>
                    <a:bodyPr/>
                    <a:lstStyle/>
                    <a:p>
                      <a:r>
                        <a:rPr lang="en-US" dirty="0"/>
                        <a:t>Minimize painter related defects</a:t>
                      </a:r>
                    </a:p>
                  </a:txBody>
                  <a:tcPr/>
                </a:tc>
                <a:extLst>
                  <a:ext uri="{0D108BD9-81ED-4DB2-BD59-A6C34878D82A}">
                    <a16:rowId xmlns:a16="http://schemas.microsoft.com/office/drawing/2014/main" val="1292511892"/>
                  </a:ext>
                </a:extLst>
              </a:tr>
              <a:tr h="370840">
                <a:tc>
                  <a:txBody>
                    <a:bodyPr/>
                    <a:lstStyle/>
                    <a:p>
                      <a:r>
                        <a:rPr lang="en-US" dirty="0"/>
                        <a:t>Document recipes</a:t>
                      </a:r>
                    </a:p>
                  </a:txBody>
                  <a:tcPr/>
                </a:tc>
                <a:tc>
                  <a:txBody>
                    <a:bodyPr/>
                    <a:lstStyle/>
                    <a:p>
                      <a:r>
                        <a:rPr lang="en-US" dirty="0"/>
                        <a:t>Reduce Variation</a:t>
                      </a:r>
                    </a:p>
                  </a:txBody>
                  <a:tcPr/>
                </a:tc>
                <a:extLst>
                  <a:ext uri="{0D108BD9-81ED-4DB2-BD59-A6C34878D82A}">
                    <a16:rowId xmlns:a16="http://schemas.microsoft.com/office/drawing/2014/main" val="642256826"/>
                  </a:ext>
                </a:extLst>
              </a:tr>
            </a:tbl>
          </a:graphicData>
        </a:graphic>
      </p:graphicFrame>
      <p:sp>
        <p:nvSpPr>
          <p:cNvPr id="12" name="TextBox 11">
            <a:extLst>
              <a:ext uri="{FF2B5EF4-FFF2-40B4-BE49-F238E27FC236}">
                <a16:creationId xmlns:a16="http://schemas.microsoft.com/office/drawing/2014/main" id="{4D0C42D3-1FD7-84F4-E26D-396CF10D49E4}"/>
              </a:ext>
            </a:extLst>
          </p:cNvPr>
          <p:cNvSpPr txBox="1"/>
          <p:nvPr/>
        </p:nvSpPr>
        <p:spPr>
          <a:xfrm>
            <a:off x="838200" y="4324865"/>
            <a:ext cx="9026050" cy="1477328"/>
          </a:xfrm>
          <a:prstGeom prst="rect">
            <a:avLst/>
          </a:prstGeom>
          <a:noFill/>
        </p:spPr>
        <p:txBody>
          <a:bodyPr wrap="square" rtlCol="0">
            <a:spAutoFit/>
          </a:bodyPr>
          <a:lstStyle/>
          <a:p>
            <a:r>
              <a:rPr lang="en-US" dirty="0"/>
              <a:t>The project goal was to reduce the paint related defect rate to 1%. This target was selected because once an optimized paint formula is achieved, paint related defects should be minimized, with remaining defects mainly caused by painter related variation.  Although the target was not fully archived, the implemented improvements reduced the defect rate from 90.6% in the original process to 2.7% after applying the Formula B. </a:t>
            </a:r>
          </a:p>
        </p:txBody>
      </p:sp>
    </p:spTree>
    <p:extLst>
      <p:ext uri="{BB962C8B-B14F-4D97-AF65-F5344CB8AC3E}">
        <p14:creationId xmlns:p14="http://schemas.microsoft.com/office/powerpoint/2010/main" val="287693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C895E-6BEE-B5D0-1DA3-9EBE33BB0B61}"/>
              </a:ext>
            </a:extLst>
          </p:cNvPr>
          <p:cNvSpPr>
            <a:spLocks noGrp="1"/>
          </p:cNvSpPr>
          <p:nvPr>
            <p:ph type="title"/>
          </p:nvPr>
        </p:nvSpPr>
        <p:spPr/>
        <p:txBody>
          <a:bodyPr/>
          <a:lstStyle/>
          <a:p>
            <a:r>
              <a:rPr lang="en-US" b="1" dirty="0"/>
              <a:t>Appendix A: Data Collection Plane</a:t>
            </a:r>
          </a:p>
        </p:txBody>
      </p:sp>
      <p:pic>
        <p:nvPicPr>
          <p:cNvPr id="6" name="Content Placeholder 5" descr="A screenshot of a computer&#10;&#10;Description automatically generated">
            <a:extLst>
              <a:ext uri="{FF2B5EF4-FFF2-40B4-BE49-F238E27FC236}">
                <a16:creationId xmlns:a16="http://schemas.microsoft.com/office/drawing/2014/main" id="{113947B0-F446-CCDA-20E1-DB9FBDE9797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119" t="26701" r="15656" b="35317"/>
          <a:stretch/>
        </p:blipFill>
        <p:spPr>
          <a:xfrm>
            <a:off x="210343" y="1425390"/>
            <a:ext cx="11771314" cy="3398432"/>
          </a:xfrm>
        </p:spPr>
      </p:pic>
      <p:sp>
        <p:nvSpPr>
          <p:cNvPr id="4" name="TextBox 3">
            <a:extLst>
              <a:ext uri="{FF2B5EF4-FFF2-40B4-BE49-F238E27FC236}">
                <a16:creationId xmlns:a16="http://schemas.microsoft.com/office/drawing/2014/main" id="{6F5A7220-857B-8BA6-D1BD-7CE887456C2A}"/>
              </a:ext>
            </a:extLst>
          </p:cNvPr>
          <p:cNvSpPr txBox="1"/>
          <p:nvPr/>
        </p:nvSpPr>
        <p:spPr>
          <a:xfrm>
            <a:off x="251208" y="6337734"/>
            <a:ext cx="2263392" cy="369332"/>
          </a:xfrm>
          <a:prstGeom prst="rect">
            <a:avLst/>
          </a:prstGeom>
          <a:noFill/>
        </p:spPr>
        <p:txBody>
          <a:bodyPr wrap="square" rtlCol="0">
            <a:spAutoFit/>
          </a:bodyPr>
          <a:lstStyle/>
          <a:p>
            <a:r>
              <a:rPr lang="en-US" b="1" dirty="0">
                <a:solidFill>
                  <a:schemeClr val="accent1"/>
                </a:solidFill>
              </a:rPr>
              <a:t>DATA COLLECTIONS</a:t>
            </a:r>
          </a:p>
        </p:txBody>
      </p:sp>
    </p:spTree>
    <p:extLst>
      <p:ext uri="{BB962C8B-B14F-4D97-AF65-F5344CB8AC3E}">
        <p14:creationId xmlns:p14="http://schemas.microsoft.com/office/powerpoint/2010/main" val="924642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795C-C2A7-2EBE-0436-892511C22456}"/>
              </a:ext>
            </a:extLst>
          </p:cNvPr>
          <p:cNvSpPr>
            <a:spLocks noGrp="1"/>
          </p:cNvSpPr>
          <p:nvPr>
            <p:ph type="title"/>
          </p:nvPr>
        </p:nvSpPr>
        <p:spPr/>
        <p:txBody>
          <a:bodyPr/>
          <a:lstStyle/>
          <a:p>
            <a:r>
              <a:rPr lang="en-US" b="1" dirty="0"/>
              <a:t>Appendix B: Data Collection</a:t>
            </a:r>
          </a:p>
        </p:txBody>
      </p:sp>
      <p:sp>
        <p:nvSpPr>
          <p:cNvPr id="4" name="TextBox 3">
            <a:extLst>
              <a:ext uri="{FF2B5EF4-FFF2-40B4-BE49-F238E27FC236}">
                <a16:creationId xmlns:a16="http://schemas.microsoft.com/office/drawing/2014/main" id="{744C4402-1D17-7A1F-1408-22FD90643911}"/>
              </a:ext>
            </a:extLst>
          </p:cNvPr>
          <p:cNvSpPr txBox="1"/>
          <p:nvPr/>
        </p:nvSpPr>
        <p:spPr>
          <a:xfrm>
            <a:off x="251208" y="6337734"/>
            <a:ext cx="2263392" cy="369332"/>
          </a:xfrm>
          <a:prstGeom prst="rect">
            <a:avLst/>
          </a:prstGeom>
          <a:noFill/>
        </p:spPr>
        <p:txBody>
          <a:bodyPr wrap="square" rtlCol="0">
            <a:spAutoFit/>
          </a:bodyPr>
          <a:lstStyle/>
          <a:p>
            <a:r>
              <a:rPr lang="en-US" b="1" dirty="0">
                <a:solidFill>
                  <a:schemeClr val="accent1"/>
                </a:solidFill>
              </a:rPr>
              <a:t>DATA COLLECTIONS</a:t>
            </a:r>
          </a:p>
        </p:txBody>
      </p:sp>
      <p:pic>
        <p:nvPicPr>
          <p:cNvPr id="10" name="Picture 9" descr="A screenshot of a computer&#10;&#10;Description automatically generated">
            <a:extLst>
              <a:ext uri="{FF2B5EF4-FFF2-40B4-BE49-F238E27FC236}">
                <a16:creationId xmlns:a16="http://schemas.microsoft.com/office/drawing/2014/main" id="{15156499-8F64-04B2-F307-B2A6E44A6DF7}"/>
              </a:ext>
            </a:extLst>
          </p:cNvPr>
          <p:cNvPicPr>
            <a:picLocks noChangeAspect="1"/>
          </p:cNvPicPr>
          <p:nvPr/>
        </p:nvPicPr>
        <p:blipFill>
          <a:blip r:embed="rId2">
            <a:extLst>
              <a:ext uri="{28A0092B-C50C-407E-A947-70E740481C1C}">
                <a14:useLocalDpi xmlns:a14="http://schemas.microsoft.com/office/drawing/2010/main" val="0"/>
              </a:ext>
            </a:extLst>
          </a:blip>
          <a:srcRect l="315" t="27049" r="23033" b="17973"/>
          <a:stretch/>
        </p:blipFill>
        <p:spPr>
          <a:xfrm>
            <a:off x="1028699" y="1534886"/>
            <a:ext cx="9215593" cy="4131128"/>
          </a:xfrm>
          <a:prstGeom prst="rect">
            <a:avLst/>
          </a:prstGeom>
        </p:spPr>
      </p:pic>
    </p:spTree>
    <p:extLst>
      <p:ext uri="{BB962C8B-B14F-4D97-AF65-F5344CB8AC3E}">
        <p14:creationId xmlns:p14="http://schemas.microsoft.com/office/powerpoint/2010/main" val="1214931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891DB-BE56-F598-DBEF-CE290ED8FC36}"/>
              </a:ext>
            </a:extLst>
          </p:cNvPr>
          <p:cNvSpPr>
            <a:spLocks noGrp="1"/>
          </p:cNvSpPr>
          <p:nvPr>
            <p:ph type="title"/>
          </p:nvPr>
        </p:nvSpPr>
        <p:spPr/>
        <p:txBody>
          <a:bodyPr/>
          <a:lstStyle/>
          <a:p>
            <a:r>
              <a:rPr lang="en-US" b="1" dirty="0"/>
              <a:t>Appendix C: Data Collection </a:t>
            </a:r>
            <a:endParaRPr lang="en-US" dirty="0"/>
          </a:p>
        </p:txBody>
      </p:sp>
      <p:pic>
        <p:nvPicPr>
          <p:cNvPr id="5" name="Picture 4" descr="A screenshot of a computer&#10;&#10;Description automatically generated">
            <a:extLst>
              <a:ext uri="{FF2B5EF4-FFF2-40B4-BE49-F238E27FC236}">
                <a16:creationId xmlns:a16="http://schemas.microsoft.com/office/drawing/2014/main" id="{F359A38A-00A8-E15C-8F68-D055D54B6537}"/>
              </a:ext>
            </a:extLst>
          </p:cNvPr>
          <p:cNvPicPr>
            <a:picLocks noChangeAspect="1"/>
          </p:cNvPicPr>
          <p:nvPr/>
        </p:nvPicPr>
        <p:blipFill>
          <a:blip r:embed="rId2">
            <a:extLst>
              <a:ext uri="{28A0092B-C50C-407E-A947-70E740481C1C}">
                <a14:useLocalDpi xmlns:a14="http://schemas.microsoft.com/office/drawing/2010/main" val="0"/>
              </a:ext>
            </a:extLst>
          </a:blip>
          <a:srcRect l="-505" t="25719" r="60085" b="19115"/>
          <a:stretch/>
        </p:blipFill>
        <p:spPr>
          <a:xfrm>
            <a:off x="838200" y="1457607"/>
            <a:ext cx="4860372" cy="4146023"/>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6ED46C8F-5D46-CA63-90FB-BBE069B4BBAB}"/>
              </a:ext>
            </a:extLst>
          </p:cNvPr>
          <p:cNvPicPr>
            <a:picLocks noChangeAspect="1"/>
          </p:cNvPicPr>
          <p:nvPr/>
        </p:nvPicPr>
        <p:blipFill>
          <a:blip r:embed="rId3">
            <a:extLst>
              <a:ext uri="{28A0092B-C50C-407E-A947-70E740481C1C}">
                <a14:useLocalDpi xmlns:a14="http://schemas.microsoft.com/office/drawing/2010/main" val="0"/>
              </a:ext>
            </a:extLst>
          </a:blip>
          <a:srcRect l="258" t="26329" r="60398" b="19361"/>
          <a:stretch/>
        </p:blipFill>
        <p:spPr>
          <a:xfrm>
            <a:off x="6096000" y="1448602"/>
            <a:ext cx="4860373" cy="4193261"/>
          </a:xfrm>
          <a:prstGeom prst="rect">
            <a:avLst/>
          </a:prstGeom>
        </p:spPr>
      </p:pic>
    </p:spTree>
    <p:extLst>
      <p:ext uri="{BB962C8B-B14F-4D97-AF65-F5344CB8AC3E}">
        <p14:creationId xmlns:p14="http://schemas.microsoft.com/office/powerpoint/2010/main" val="3600507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20073</TotalTime>
  <Words>2016</Words>
  <Application>Microsoft Macintosh PowerPoint</Application>
  <PresentationFormat>Widescreen</PresentationFormat>
  <Paragraphs>467</Paragraphs>
  <Slides>25</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25</vt:i4>
      </vt:variant>
    </vt:vector>
  </HeadingPairs>
  <TitlesOfParts>
    <vt:vector size="32" baseType="lpstr">
      <vt:lpstr>Arial</vt:lpstr>
      <vt:lpstr>Calibri</vt:lpstr>
      <vt:lpstr>Calibri Light</vt:lpstr>
      <vt:lpstr>Google Sans</vt:lpstr>
      <vt:lpstr>Wingdings</vt:lpstr>
      <vt:lpstr>Office Theme</vt:lpstr>
      <vt:lpstr>Default Design</vt:lpstr>
      <vt:lpstr>PowerPoint Presentation</vt:lpstr>
      <vt:lpstr>Business Case</vt:lpstr>
      <vt:lpstr>Problem &amp; Goal Statement</vt:lpstr>
      <vt:lpstr>Operational Definition</vt:lpstr>
      <vt:lpstr>Measure - Defect Types (%)</vt:lpstr>
      <vt:lpstr>Measure -  Paint Thickness vs Defect Types</vt:lpstr>
      <vt:lpstr>Measure - Paint types vs Defect types</vt:lpstr>
      <vt:lpstr>Current State - Sigma Level</vt:lpstr>
      <vt:lpstr>Current State-  Pottery Process Map </vt:lpstr>
      <vt:lpstr>Current State- Painting Process Map</vt:lpstr>
      <vt:lpstr>Analysis - Root Cause</vt:lpstr>
      <vt:lpstr>Analysis- Fishbone Diagram Analysis</vt:lpstr>
      <vt:lpstr>Analysis- Formulation Trials</vt:lpstr>
      <vt:lpstr>Analysis - Findings</vt:lpstr>
      <vt:lpstr>Analysis - Summary</vt:lpstr>
      <vt:lpstr>Improve  – Optimized Formula Validation</vt:lpstr>
      <vt:lpstr>Improve – DPMO and Sigma Level </vt:lpstr>
      <vt:lpstr>Improve</vt:lpstr>
      <vt:lpstr>Improve - Standardized Formula</vt:lpstr>
      <vt:lpstr>Improve – Cost Analysis </vt:lpstr>
      <vt:lpstr>Improve- Cost Analysis Summary</vt:lpstr>
      <vt:lpstr>Recommendations- Control</vt:lpstr>
      <vt:lpstr>Appendix A: Data Collection Plane</vt:lpstr>
      <vt:lpstr>Appendix B: Data Collection</vt:lpstr>
      <vt:lpstr>Appendix C: Data Collection </vt:lpstr>
    </vt:vector>
  </TitlesOfParts>
  <Company>Chick-fil-A,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Deliwhopter Helictoper Case Study</dc:title>
  <dc:creator>Will Mott</dc:creator>
  <cp:lastModifiedBy>Adanur, Sumeyye</cp:lastModifiedBy>
  <cp:revision>162</cp:revision>
  <dcterms:created xsi:type="dcterms:W3CDTF">2016-12-14T15:24:59Z</dcterms:created>
  <dcterms:modified xsi:type="dcterms:W3CDTF">2026-07-26T21:53:19Z</dcterms:modified>
</cp:coreProperties>
</file>